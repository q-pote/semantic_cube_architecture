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7" d="100"/>
          <a:sy n="107" d="100"/>
        </p:scale>
        <p:origin x="678"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799" y="2130425"/>
            <a:ext cx="10627659" cy="1470025"/>
          </a:xfrm>
        </p:spPr>
        <p:txBody>
          <a:bodyPr/>
          <a:lstStyle/>
          <a:p>
            <a:pPr>
              <a:defRPr sz="4400" b="1">
                <a:solidFill>
                  <a:srgbClr val="003366"/>
                </a:solidFill>
              </a:defRPr>
            </a:pPr>
            <a:r>
              <a:rPr dirty="0">
                <a:latin typeface="游ゴシック" panose="020B0400000000000000" pitchFamily="50" charset="-128"/>
                <a:ea typeface="游ゴシック" panose="020B0400000000000000" pitchFamily="50" charset="-128"/>
              </a:rPr>
              <a:t>Semantic Cube Architecture</a:t>
            </a:r>
          </a:p>
        </p:txBody>
      </p:sp>
      <p:sp>
        <p:nvSpPr>
          <p:cNvPr id="3" name="Subtitle 2"/>
          <p:cNvSpPr>
            <a:spLocks noGrp="1"/>
          </p:cNvSpPr>
          <p:nvPr>
            <p:ph type="subTitle" idx="1"/>
          </p:nvPr>
        </p:nvSpPr>
        <p:spPr>
          <a:xfrm>
            <a:off x="788894" y="3886200"/>
            <a:ext cx="10748682" cy="2263588"/>
          </a:xfrm>
        </p:spPr>
        <p:txBody>
          <a:bodyPr>
            <a:normAutofit/>
          </a:bodyPr>
          <a:lstStyle/>
          <a:p>
            <a:pPr>
              <a:defRPr sz="2000"/>
            </a:pPr>
            <a:r>
              <a:rPr dirty="0">
                <a:latin typeface="游ゴシック" panose="020B0400000000000000" pitchFamily="50" charset="-128"/>
                <a:ea typeface="游ゴシック" panose="020B0400000000000000" pitchFamily="50" charset="-128"/>
              </a:rPr>
              <a:t>A Data &amp; Memory Architecture for Next-Generation AI</a:t>
            </a:r>
          </a:p>
          <a:p>
            <a:pPr>
              <a:defRPr sz="2000"/>
            </a:pPr>
            <a:endParaRPr dirty="0">
              <a:latin typeface="游ゴシック" panose="020B0400000000000000" pitchFamily="50" charset="-128"/>
              <a:ea typeface="游ゴシック" panose="020B0400000000000000" pitchFamily="50" charset="-128"/>
            </a:endParaRPr>
          </a:p>
          <a:p>
            <a:pPr>
              <a:defRPr sz="2000"/>
            </a:pPr>
            <a:r>
              <a:rPr dirty="0">
                <a:latin typeface="游ゴシック" panose="020B0400000000000000" pitchFamily="50" charset="-128"/>
                <a:ea typeface="游ゴシック" panose="020B0400000000000000" pitchFamily="50" charset="-128"/>
              </a:rPr>
              <a:t>Author: </a:t>
            </a:r>
            <a:r>
              <a:rPr lang="en-US" dirty="0" err="1">
                <a:latin typeface="游ゴシック" panose="020B0400000000000000" pitchFamily="50" charset="-128"/>
                <a:ea typeface="游ゴシック" panose="020B0400000000000000" pitchFamily="50" charset="-128"/>
              </a:rPr>
              <a:t>tomonari</a:t>
            </a:r>
            <a:r>
              <a:rPr lang="en-US" dirty="0">
                <a:latin typeface="游ゴシック" panose="020B0400000000000000" pitchFamily="50" charset="-128"/>
                <a:ea typeface="游ゴシック" panose="020B0400000000000000" pitchFamily="50" charset="-128"/>
              </a:rPr>
              <a:t> Suzuki</a:t>
            </a:r>
          </a:p>
          <a:p>
            <a:pPr>
              <a:defRPr sz="2000"/>
            </a:pPr>
            <a:endParaRPr dirty="0">
              <a:latin typeface="游ゴシック" panose="020B0400000000000000" pitchFamily="50" charset="-128"/>
              <a:ea typeface="游ゴシック" panose="020B0400000000000000" pitchFamily="50" charset="-128"/>
            </a:endParaRPr>
          </a:p>
          <a:p>
            <a:pPr>
              <a:defRPr sz="2000"/>
            </a:pPr>
            <a:r>
              <a:rPr dirty="0">
                <a:latin typeface="游ゴシック" panose="020B0400000000000000" pitchFamily="50" charset="-128"/>
                <a:ea typeface="游ゴシック" panose="020B0400000000000000" pitchFamily="50" charset="-128"/>
              </a:rPr>
              <a:t>License: Apache-2.0 | Version: v1.0</a:t>
            </a:r>
          </a:p>
          <a:p>
            <a:pPr>
              <a:defRPr sz="2000"/>
            </a:pPr>
            <a:r>
              <a:rPr dirty="0">
                <a:latin typeface="游ゴシック" panose="020B0400000000000000" pitchFamily="50" charset="-128"/>
                <a:ea typeface="游ゴシック" panose="020B0400000000000000" pitchFamily="50" charset="-128"/>
              </a:rPr>
              <a:t>GitHub: https://github.com/Q-pote/semantic_cube_architecture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10802471" cy="1143000"/>
          </a:xfrm>
        </p:spPr>
        <p:txBody>
          <a:bodyPr/>
          <a:lstStyle/>
          <a:p>
            <a:pPr>
              <a:defRPr b="1">
                <a:solidFill>
                  <a:srgbClr val="003366"/>
                </a:solidFill>
              </a:defRPr>
            </a:pPr>
            <a:r>
              <a:rPr dirty="0" err="1">
                <a:latin typeface="游ゴシック" panose="020B0400000000000000" pitchFamily="50" charset="-128"/>
                <a:ea typeface="游ゴシック" panose="020B0400000000000000" pitchFamily="50" charset="-128"/>
              </a:rPr>
              <a:t>宣言：本アーキテクチャの立場</a:t>
            </a:r>
            <a:endParaRPr dirty="0">
              <a:latin typeface="游ゴシック" panose="020B0400000000000000" pitchFamily="50" charset="-128"/>
              <a:ea typeface="游ゴシック" panose="020B0400000000000000" pitchFamily="50" charset="-128"/>
            </a:endParaRPr>
          </a:p>
        </p:txBody>
      </p:sp>
      <p:sp>
        <p:nvSpPr>
          <p:cNvPr id="3" name="Content Placeholder 2"/>
          <p:cNvSpPr>
            <a:spLocks noGrp="1"/>
          </p:cNvSpPr>
          <p:nvPr>
            <p:ph idx="1"/>
          </p:nvPr>
        </p:nvSpPr>
        <p:spPr>
          <a:xfrm>
            <a:off x="457200" y="1600200"/>
            <a:ext cx="11170024" cy="4525963"/>
          </a:xfrm>
        </p:spPr>
        <p:txBody>
          <a:bodyPr/>
          <a:lstStyle/>
          <a:p>
            <a:endParaRPr>
              <a:latin typeface="游ゴシック" panose="020B0400000000000000" pitchFamily="50" charset="-128"/>
              <a:ea typeface="游ゴシック" panose="020B0400000000000000" pitchFamily="50" charset="-128"/>
            </a:endParaRPr>
          </a:p>
          <a:p>
            <a:r>
              <a:rPr sz="2000" b="1">
                <a:latin typeface="游ゴシック" panose="020B0400000000000000" pitchFamily="50" charset="-128"/>
                <a:ea typeface="游ゴシック" panose="020B0400000000000000" pitchFamily="50" charset="-128"/>
              </a:rPr>
              <a:t>Semantic Cube Architecture は、次世代AIの基盤となる “データ＆メモリアーキテクチャ” です。</a:t>
            </a:r>
          </a:p>
          <a:p>
            <a:pPr lvl="1"/>
            <a:r>
              <a:rPr sz="1800" b="1">
                <a:latin typeface="游ゴシック" panose="020B0400000000000000" pitchFamily="50" charset="-128"/>
                <a:ea typeface="游ゴシック" panose="020B0400000000000000" pitchFamily="50" charset="-128"/>
              </a:rPr>
              <a:t>LLMの外側で動作する “思考するメモリ”</a:t>
            </a:r>
            <a:r>
              <a:rPr sz="1800">
                <a:latin typeface="游ゴシック" panose="020B0400000000000000" pitchFamily="50" charset="-128"/>
                <a:ea typeface="游ゴシック" panose="020B0400000000000000" pitchFamily="50" charset="-128"/>
              </a:rPr>
              <a:t>: 既存のLLM（大規模言語モデル）の内部構造には一切手を加えず、外部に独立した意味空間と推論空間を構築します。</a:t>
            </a:r>
          </a:p>
          <a:p>
            <a:pPr lvl="1"/>
            <a:r>
              <a:rPr sz="1800" b="1">
                <a:latin typeface="游ゴシック" panose="020B0400000000000000" pitchFamily="50" charset="-128"/>
                <a:ea typeface="游ゴシック" panose="020B0400000000000000" pitchFamily="50" charset="-128"/>
              </a:rPr>
              <a:t>モデル非依存の汎用性</a:t>
            </a:r>
            <a:r>
              <a:rPr sz="1800">
                <a:latin typeface="游ゴシック" panose="020B0400000000000000" pitchFamily="50" charset="-128"/>
                <a:ea typeface="游ゴシック" panose="020B0400000000000000" pitchFamily="50" charset="-128"/>
              </a:rPr>
              <a:t>: GPT、Claude、Geminiなど、あらゆるLLMを「知覚・生成エンジン」として活用可能です。</a:t>
            </a:r>
          </a:p>
          <a:p>
            <a:pPr lvl="1"/>
            <a:r>
              <a:rPr sz="1800" b="1">
                <a:latin typeface="游ゴシック" panose="020B0400000000000000" pitchFamily="50" charset="-128"/>
                <a:ea typeface="游ゴシック" panose="020B0400000000000000" pitchFamily="50" charset="-128"/>
              </a:rPr>
              <a:t>オープンなイノベーション基盤</a:t>
            </a:r>
            <a:r>
              <a:rPr sz="1800">
                <a:latin typeface="游ゴシック" panose="020B0400000000000000" pitchFamily="50" charset="-128"/>
                <a:ea typeface="游ゴシック" panose="020B0400000000000000" pitchFamily="50" charset="-128"/>
              </a:rPr>
              <a:t>: 世界中の企業や研究者が自由に商用利用・派生開発を行えるよう、Apache-2.0 ライセンスで公開します。</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0560424" cy="1143000"/>
          </a:xfrm>
        </p:spPr>
        <p:txBody>
          <a:bodyPr/>
          <a:lstStyle/>
          <a:p>
            <a:pPr>
              <a:defRPr b="1">
                <a:solidFill>
                  <a:srgbClr val="003366"/>
                </a:solidFill>
              </a:defRPr>
            </a:pPr>
            <a:r>
              <a:rPr dirty="0" err="1">
                <a:latin typeface="游ゴシック" panose="020B0400000000000000" pitchFamily="50" charset="-128"/>
                <a:ea typeface="游ゴシック" panose="020B0400000000000000" pitchFamily="50" charset="-128"/>
              </a:rPr>
              <a:t>なぜ必要なのか（問題提起</a:t>
            </a:r>
            <a:r>
              <a:rPr dirty="0">
                <a:latin typeface="游ゴシック" panose="020B0400000000000000" pitchFamily="50" charset="-128"/>
                <a:ea typeface="游ゴシック" panose="020B0400000000000000" pitchFamily="50" charset="-128"/>
              </a:rPr>
              <a:t>）</a:t>
            </a:r>
          </a:p>
        </p:txBody>
      </p:sp>
      <p:sp>
        <p:nvSpPr>
          <p:cNvPr id="3" name="Content Placeholder 2"/>
          <p:cNvSpPr>
            <a:spLocks noGrp="1"/>
          </p:cNvSpPr>
          <p:nvPr>
            <p:ph idx="1"/>
          </p:nvPr>
        </p:nvSpPr>
        <p:spPr>
          <a:xfrm>
            <a:off x="457200" y="1600200"/>
            <a:ext cx="11232776" cy="4525963"/>
          </a:xfrm>
        </p:spPr>
        <p:txBody>
          <a:bodyPr/>
          <a:lstStyle/>
          <a:p>
            <a:endParaRPr dirty="0">
              <a:latin typeface="游ゴシック" panose="020B0400000000000000" pitchFamily="50" charset="-128"/>
              <a:ea typeface="游ゴシック" panose="020B0400000000000000" pitchFamily="50" charset="-128"/>
            </a:endParaRPr>
          </a:p>
          <a:p>
            <a:r>
              <a:rPr sz="2000" b="1" dirty="0" err="1">
                <a:latin typeface="游ゴシック" panose="020B0400000000000000" pitchFamily="50" charset="-128"/>
                <a:ea typeface="游ゴシック" panose="020B0400000000000000" pitchFamily="50" charset="-128"/>
              </a:rPr>
              <a:t>既存LLMが抱える構造的・アーキテクチャ的限界</a:t>
            </a:r>
            <a:endParaRPr sz="2000" b="1" dirty="0">
              <a:latin typeface="游ゴシック" panose="020B0400000000000000" pitchFamily="50" charset="-128"/>
              <a:ea typeface="游ゴシック" panose="020B0400000000000000" pitchFamily="50" charset="-128"/>
            </a:endParaRPr>
          </a:p>
          <a:p>
            <a:pPr lvl="1"/>
            <a:r>
              <a:rPr sz="1800" b="1" dirty="0" err="1">
                <a:latin typeface="游ゴシック" panose="020B0400000000000000" pitchFamily="50" charset="-128"/>
                <a:ea typeface="游ゴシック" panose="020B0400000000000000" pitchFamily="50" charset="-128"/>
              </a:rPr>
              <a:t>一次元的で線形なコンテキスト</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トークンの羅列によるコンテキスト管理は、長期的・直列的な記憶の保持に限界があります</a:t>
            </a:r>
            <a:r>
              <a:rPr sz="1800" dirty="0">
                <a:latin typeface="游ゴシック" panose="020B0400000000000000" pitchFamily="50" charset="-128"/>
                <a:ea typeface="游ゴシック" panose="020B0400000000000000" pitchFamily="50" charset="-128"/>
              </a:rPr>
              <a:t>。</a:t>
            </a:r>
          </a:p>
          <a:p>
            <a:pPr lvl="1"/>
            <a:r>
              <a:rPr sz="1800" b="1" dirty="0" err="1">
                <a:latin typeface="游ゴシック" panose="020B0400000000000000" pitchFamily="50" charset="-128"/>
                <a:ea typeface="游ゴシック" panose="020B0400000000000000" pitchFamily="50" charset="-128"/>
              </a:rPr>
              <a:t>ブラックボックス化された内部状態</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推論の方向性や記憶の変遷を追跡・監査することが困難です</a:t>
            </a:r>
            <a:r>
              <a:rPr sz="1800" dirty="0">
                <a:latin typeface="游ゴシック" panose="020B0400000000000000" pitchFamily="50" charset="-128"/>
                <a:ea typeface="游ゴシック" panose="020B0400000000000000" pitchFamily="50" charset="-128"/>
              </a:rPr>
              <a:t>。</a:t>
            </a:r>
          </a:p>
          <a:p>
            <a:pPr lvl="1"/>
            <a:r>
              <a:rPr sz="1800" b="1" dirty="0" err="1">
                <a:latin typeface="游ゴシック" panose="020B0400000000000000" pitchFamily="50" charset="-128"/>
                <a:ea typeface="游ゴシック" panose="020B0400000000000000" pitchFamily="50" charset="-128"/>
              </a:rPr>
              <a:t>長期記憶の統合不全</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膨大な情報を単にRAGで丸呑みさせるアプローチは、コンテキスト・アビューズ（ハルシネーションの温床）を引き起こします</a:t>
            </a:r>
            <a:r>
              <a:rPr sz="1800" dirty="0">
                <a:latin typeface="游ゴシック" panose="020B0400000000000000" pitchFamily="50" charset="-128"/>
                <a:ea typeface="游ゴシック" panose="020B0400000000000000" pitchFamily="50" charset="-128"/>
              </a:rPr>
              <a:t>。</a:t>
            </a:r>
          </a:p>
          <a:p>
            <a:r>
              <a:rPr sz="2000" b="1" dirty="0" err="1">
                <a:latin typeface="游ゴシック" panose="020B0400000000000000" pitchFamily="50" charset="-128"/>
                <a:ea typeface="游ゴシック" panose="020B0400000000000000" pitchFamily="50" charset="-128"/>
              </a:rPr>
              <a:t>解決へのアプローチ</a:t>
            </a:r>
            <a:r>
              <a:rPr sz="2000" b="1" dirty="0">
                <a:latin typeface="游ゴシック" panose="020B0400000000000000" pitchFamily="50" charset="-128"/>
                <a:ea typeface="游ゴシック" panose="020B0400000000000000" pitchFamily="50" charset="-128"/>
              </a:rPr>
              <a:t>：</a:t>
            </a:r>
            <a:r>
              <a:rPr sz="2000" dirty="0">
                <a:latin typeface="游ゴシック" panose="020B0400000000000000" pitchFamily="50" charset="-128"/>
                <a:ea typeface="游ゴシック" panose="020B0400000000000000" pitchFamily="50" charset="-128"/>
              </a:rPr>
              <a:t> 「</a:t>
            </a:r>
            <a:r>
              <a:rPr sz="2000" dirty="0" err="1">
                <a:latin typeface="游ゴシック" panose="020B0400000000000000" pitchFamily="50" charset="-128"/>
                <a:ea typeface="游ゴシック" panose="020B0400000000000000" pitchFamily="50" charset="-128"/>
              </a:rPr>
              <a:t>意味空間を外部化」し、自律的な記憶の代謝メカニズムを導入する必要があります</a:t>
            </a:r>
            <a:r>
              <a:rPr sz="2000" dirty="0">
                <a:latin typeface="游ゴシック" panose="020B0400000000000000" pitchFamily="50" charset="-128"/>
                <a:ea typeface="游ゴシック" panose="020B0400000000000000" pitchFamily="50" charset="-128"/>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10730753" cy="1143000"/>
          </a:xfrm>
        </p:spPr>
        <p:txBody>
          <a:bodyPr/>
          <a:lstStyle/>
          <a:p>
            <a:pPr>
              <a:defRPr b="1">
                <a:solidFill>
                  <a:srgbClr val="003366"/>
                </a:solidFill>
              </a:defRPr>
            </a:pPr>
            <a:r>
              <a:rPr dirty="0" err="1">
                <a:latin typeface="游ゴシック" panose="020B0400000000000000" pitchFamily="50" charset="-128"/>
                <a:ea typeface="游ゴシック" panose="020B0400000000000000" pitchFamily="50" charset="-128"/>
              </a:rPr>
              <a:t>解決策（全体像</a:t>
            </a:r>
            <a:r>
              <a:rPr dirty="0">
                <a:latin typeface="游ゴシック" panose="020B0400000000000000" pitchFamily="50" charset="-128"/>
                <a:ea typeface="游ゴシック" panose="020B0400000000000000" pitchFamily="50" charset="-128"/>
              </a:rPr>
              <a:t>）</a:t>
            </a:r>
          </a:p>
        </p:txBody>
      </p:sp>
      <p:sp>
        <p:nvSpPr>
          <p:cNvPr id="3" name="Content Placeholder 2"/>
          <p:cNvSpPr>
            <a:spLocks noGrp="1"/>
          </p:cNvSpPr>
          <p:nvPr>
            <p:ph idx="1"/>
          </p:nvPr>
        </p:nvSpPr>
        <p:spPr>
          <a:xfrm>
            <a:off x="457200" y="1600200"/>
            <a:ext cx="11152094" cy="4525963"/>
          </a:xfrm>
        </p:spPr>
        <p:txBody>
          <a:bodyPr/>
          <a:lstStyle/>
          <a:p>
            <a:endParaRPr dirty="0">
              <a:latin typeface="游ゴシック" panose="020B0400000000000000" pitchFamily="50" charset="-128"/>
              <a:ea typeface="游ゴシック" panose="020B0400000000000000" pitchFamily="50" charset="-128"/>
            </a:endParaRPr>
          </a:p>
          <a:p>
            <a:r>
              <a:rPr sz="2000" b="1" dirty="0">
                <a:latin typeface="游ゴシック" panose="020B0400000000000000" pitchFamily="50" charset="-128"/>
                <a:ea typeface="游ゴシック" panose="020B0400000000000000" pitchFamily="50" charset="-128"/>
              </a:rPr>
              <a:t>Semantic Cube Architecture </a:t>
            </a:r>
            <a:r>
              <a:rPr sz="2000" b="1" dirty="0" err="1">
                <a:latin typeface="游ゴシック" panose="020B0400000000000000" pitchFamily="50" charset="-128"/>
                <a:ea typeface="游ゴシック" panose="020B0400000000000000" pitchFamily="50" charset="-128"/>
              </a:rPr>
              <a:t>が提供する革新的アプローチ</a:t>
            </a:r>
            <a:endParaRPr sz="2000" b="1" dirty="0">
              <a:latin typeface="游ゴシック" panose="020B0400000000000000" pitchFamily="50" charset="-128"/>
              <a:ea typeface="游ゴシック" panose="020B0400000000000000" pitchFamily="50" charset="-128"/>
            </a:endParaRPr>
          </a:p>
          <a:p>
            <a:pPr lvl="1"/>
            <a:r>
              <a:rPr sz="1800" b="1" dirty="0" err="1">
                <a:latin typeface="游ゴシック" panose="020B0400000000000000" pitchFamily="50" charset="-128"/>
                <a:ea typeface="游ゴシック" panose="020B0400000000000000" pitchFamily="50" charset="-128"/>
              </a:rPr>
              <a:t>意味単位の記憶（Semantic</a:t>
            </a:r>
            <a:r>
              <a:rPr sz="1800" b="1" dirty="0">
                <a:latin typeface="游ゴシック" panose="020B0400000000000000" pitchFamily="50" charset="-128"/>
                <a:ea typeface="游ゴシック" panose="020B0400000000000000" pitchFamily="50" charset="-128"/>
              </a:rPr>
              <a:t> Cube）</a:t>
            </a:r>
            <a:r>
              <a:rPr sz="1800" dirty="0">
                <a:latin typeface="游ゴシック" panose="020B0400000000000000" pitchFamily="50" charset="-128"/>
                <a:ea typeface="游ゴシック" panose="020B0400000000000000" pitchFamily="50" charset="-128"/>
              </a:rPr>
              <a:t>: 情報を3次元的な「意味のブロック」として構造化します。</a:t>
            </a:r>
          </a:p>
          <a:p>
            <a:pPr lvl="1"/>
            <a:r>
              <a:rPr sz="1800" b="1" dirty="0" err="1">
                <a:latin typeface="游ゴシック" panose="020B0400000000000000" pitchFamily="50" charset="-128"/>
                <a:ea typeface="游ゴシック" panose="020B0400000000000000" pitchFamily="50" charset="-128"/>
              </a:rPr>
              <a:t>意味空間の軽量化</a:t>
            </a:r>
            <a:r>
              <a:rPr sz="1800" dirty="0">
                <a:latin typeface="游ゴシック" panose="020B0400000000000000" pitchFamily="50" charset="-128"/>
                <a:ea typeface="游ゴシック" panose="020B0400000000000000" pitchFamily="50" charset="-128"/>
              </a:rPr>
              <a:t>: int3量子化や7階調バケットにより、計算コストを極限まで削減（O(1)</a:t>
            </a:r>
            <a:r>
              <a:rPr sz="1800" dirty="0" err="1">
                <a:latin typeface="游ゴシック" panose="020B0400000000000000" pitchFamily="50" charset="-128"/>
                <a:ea typeface="游ゴシック" panose="020B0400000000000000" pitchFamily="50" charset="-128"/>
              </a:rPr>
              <a:t>化への寄与</a:t>
            </a:r>
            <a:r>
              <a:rPr sz="1800" dirty="0">
                <a:latin typeface="游ゴシック" panose="020B0400000000000000" pitchFamily="50" charset="-128"/>
                <a:ea typeface="游ゴシック" panose="020B0400000000000000" pitchFamily="50" charset="-128"/>
              </a:rPr>
              <a:t>）。</a:t>
            </a:r>
          </a:p>
          <a:p>
            <a:pPr lvl="1"/>
            <a:r>
              <a:rPr sz="1800" b="1" dirty="0" err="1">
                <a:latin typeface="游ゴシック" panose="020B0400000000000000" pitchFamily="50" charset="-128"/>
                <a:ea typeface="游ゴシック" panose="020B0400000000000000" pitchFamily="50" charset="-128"/>
              </a:rPr>
              <a:t>引力マップと葛藤検知</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視点クラスタを検出し、情報の矛盾や対立を論理的に処理します</a:t>
            </a:r>
            <a:r>
              <a:rPr sz="1800" dirty="0">
                <a:latin typeface="游ゴシック" panose="020B0400000000000000" pitchFamily="50" charset="-128"/>
                <a:ea typeface="游ゴシック" panose="020B0400000000000000" pitchFamily="50" charset="-128"/>
              </a:rPr>
              <a:t>。</a:t>
            </a:r>
          </a:p>
          <a:p>
            <a:pPr lvl="1"/>
            <a:r>
              <a:rPr sz="1800" b="1" dirty="0" err="1">
                <a:latin typeface="游ゴシック" panose="020B0400000000000000" pitchFamily="50" charset="-128"/>
                <a:ea typeface="游ゴシック" panose="020B0400000000000000" pitchFamily="50" charset="-128"/>
              </a:rPr>
              <a:t>自律的な記憶の代謝</a:t>
            </a:r>
            <a:r>
              <a:rPr sz="1800" b="1" dirty="0">
                <a:latin typeface="游ゴシック" panose="020B0400000000000000" pitchFamily="50" charset="-128"/>
                <a:ea typeface="游ゴシック" panose="020B0400000000000000" pitchFamily="50" charset="-128"/>
              </a:rPr>
              <a:t>（α</a:t>
            </a:r>
            <a:r>
              <a:rPr sz="1800" b="1" dirty="0" err="1">
                <a:latin typeface="游ゴシック" panose="020B0400000000000000" pitchFamily="50" charset="-128"/>
                <a:ea typeface="游ゴシック" panose="020B0400000000000000" pitchFamily="50" charset="-128"/>
              </a:rPr>
              <a:t>代謝・デフラグ・GC</a:t>
            </a:r>
            <a:r>
              <a:rPr sz="1800" b="1" dirty="0">
                <a:latin typeface="游ゴシック" panose="020B0400000000000000" pitchFamily="50" charset="-128"/>
                <a:ea typeface="游ゴシック" panose="020B0400000000000000" pitchFamily="50" charset="-128"/>
              </a:rPr>
              <a:t>）</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時間（Tick）に依存せず、イベント駆動で記憶を整理・忘却します</a:t>
            </a:r>
            <a:r>
              <a:rPr sz="1800" dirty="0">
                <a:latin typeface="游ゴシック" panose="020B0400000000000000" pitchFamily="50" charset="-128"/>
                <a:ea typeface="游ゴシック" panose="020B0400000000000000" pitchFamily="50" charset="-128"/>
              </a:rPr>
              <a:t>。</a:t>
            </a:r>
          </a:p>
          <a:p>
            <a:pPr lvl="1"/>
            <a:r>
              <a:rPr sz="1800" b="1" dirty="0" err="1">
                <a:latin typeface="游ゴシック" panose="020B0400000000000000" pitchFamily="50" charset="-128"/>
                <a:ea typeface="游ゴシック" panose="020B0400000000000000" pitchFamily="50" charset="-128"/>
              </a:rPr>
              <a:t>デュアルエンジンとKVキャッシュハブ</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知覚と推論を分離し、統合されたメモリハブで管理します</a:t>
            </a:r>
            <a:r>
              <a:rPr sz="1800" dirty="0">
                <a:latin typeface="游ゴシック" panose="020B0400000000000000" pitchFamily="50" charset="-128"/>
                <a:ea typeface="游ゴシック" panose="020B0400000000000000" pitchFamily="50" charset="-128"/>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753" y="77414"/>
            <a:ext cx="8229600" cy="1143000"/>
          </a:xfrm>
        </p:spPr>
        <p:txBody>
          <a:bodyPr/>
          <a:lstStyle/>
          <a:p>
            <a:pPr>
              <a:defRPr b="1">
                <a:solidFill>
                  <a:srgbClr val="003366"/>
                </a:solidFill>
              </a:defRPr>
            </a:pPr>
            <a:r>
              <a:rPr dirty="0" err="1"/>
              <a:t>全体アーキテクチャ概要</a:t>
            </a:r>
            <a:endParaRPr dirty="0"/>
          </a:p>
        </p:txBody>
      </p:sp>
      <p:pic>
        <p:nvPicPr>
          <p:cNvPr id="9" name="図 8">
            <a:extLst>
              <a:ext uri="{FF2B5EF4-FFF2-40B4-BE49-F238E27FC236}">
                <a16:creationId xmlns:a16="http://schemas.microsoft.com/office/drawing/2014/main" id="{5347E1EA-8E94-EC48-0805-697F3CF15986}"/>
              </a:ext>
            </a:extLst>
          </p:cNvPr>
          <p:cNvPicPr>
            <a:picLocks noChangeAspect="1"/>
          </p:cNvPicPr>
          <p:nvPr/>
        </p:nvPicPr>
        <p:blipFill>
          <a:blip r:embed="rId2"/>
          <a:stretch>
            <a:fillRect/>
          </a:stretch>
        </p:blipFill>
        <p:spPr>
          <a:xfrm>
            <a:off x="251011" y="3078095"/>
            <a:ext cx="11586894" cy="16552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10802471" cy="1143000"/>
          </a:xfrm>
        </p:spPr>
        <p:txBody>
          <a:bodyPr/>
          <a:lstStyle/>
          <a:p>
            <a:pPr>
              <a:defRPr b="1">
                <a:solidFill>
                  <a:srgbClr val="003366"/>
                </a:solidFill>
              </a:defRPr>
            </a:pPr>
            <a:r>
              <a:rPr dirty="0">
                <a:latin typeface="游ゴシック" panose="020B0400000000000000" pitchFamily="50" charset="-128"/>
                <a:ea typeface="游ゴシック" panose="020B0400000000000000" pitchFamily="50" charset="-128"/>
              </a:rPr>
              <a:t>Semantic </a:t>
            </a:r>
            <a:r>
              <a:rPr dirty="0" err="1">
                <a:latin typeface="游ゴシック" panose="020B0400000000000000" pitchFamily="50" charset="-128"/>
                <a:ea typeface="游ゴシック" panose="020B0400000000000000" pitchFamily="50" charset="-128"/>
              </a:rPr>
              <a:t>Cube（意味キューブ）とは</a:t>
            </a:r>
            <a:endParaRPr dirty="0">
              <a:latin typeface="游ゴシック" panose="020B0400000000000000" pitchFamily="50" charset="-128"/>
              <a:ea typeface="游ゴシック" panose="020B0400000000000000" pitchFamily="50" charset="-128"/>
            </a:endParaRPr>
          </a:p>
        </p:txBody>
      </p:sp>
      <p:sp>
        <p:nvSpPr>
          <p:cNvPr id="3" name="Content Placeholder 2"/>
          <p:cNvSpPr>
            <a:spLocks noGrp="1"/>
          </p:cNvSpPr>
          <p:nvPr>
            <p:ph idx="1"/>
          </p:nvPr>
        </p:nvSpPr>
        <p:spPr>
          <a:xfrm>
            <a:off x="457200" y="1600200"/>
            <a:ext cx="11080376" cy="4525963"/>
          </a:xfrm>
        </p:spPr>
        <p:txBody>
          <a:bodyPr/>
          <a:lstStyle/>
          <a:p>
            <a:endParaRPr dirty="0">
              <a:latin typeface="游ゴシック" panose="020B0400000000000000" pitchFamily="50" charset="-128"/>
              <a:ea typeface="游ゴシック" panose="020B0400000000000000" pitchFamily="50" charset="-128"/>
            </a:endParaRPr>
          </a:p>
          <a:p>
            <a:r>
              <a:rPr sz="2000" b="1" dirty="0" err="1">
                <a:latin typeface="游ゴシック" panose="020B0400000000000000" pitchFamily="50" charset="-128"/>
                <a:ea typeface="游ゴシック" panose="020B0400000000000000" pitchFamily="50" charset="-128"/>
              </a:rPr>
              <a:t>演算に最適化された</a:t>
            </a:r>
            <a:r>
              <a:rPr sz="2000" b="1" dirty="0">
                <a:latin typeface="游ゴシック" panose="020B0400000000000000" pitchFamily="50" charset="-128"/>
                <a:ea typeface="游ゴシック" panose="020B0400000000000000" pitchFamily="50" charset="-128"/>
              </a:rPr>
              <a:t> “</a:t>
            </a:r>
            <a:r>
              <a:rPr sz="2000" b="1" dirty="0" err="1">
                <a:latin typeface="游ゴシック" panose="020B0400000000000000" pitchFamily="50" charset="-128"/>
                <a:ea typeface="游ゴシック" panose="020B0400000000000000" pitchFamily="50" charset="-128"/>
              </a:rPr>
              <a:t>意味の原子</a:t>
            </a:r>
            <a:r>
              <a:rPr sz="2000" b="1" dirty="0">
                <a:latin typeface="游ゴシック" panose="020B0400000000000000" pitchFamily="50" charset="-128"/>
                <a:ea typeface="游ゴシック" panose="020B0400000000000000" pitchFamily="50" charset="-128"/>
              </a:rPr>
              <a:t>”</a:t>
            </a:r>
          </a:p>
          <a:p>
            <a:pPr lvl="1"/>
            <a:r>
              <a:rPr sz="1800" b="1" dirty="0" err="1">
                <a:latin typeface="游ゴシック" panose="020B0400000000000000" pitchFamily="50" charset="-128"/>
                <a:ea typeface="游ゴシック" panose="020B0400000000000000" pitchFamily="50" charset="-128"/>
              </a:rPr>
              <a:t>概要（Summary</a:t>
            </a:r>
            <a:r>
              <a:rPr sz="1800" b="1" dirty="0">
                <a:latin typeface="游ゴシック" panose="020B0400000000000000" pitchFamily="50" charset="-128"/>
                <a:ea typeface="游ゴシック" panose="020B0400000000000000" pitchFamily="50" charset="-128"/>
              </a:rPr>
              <a:t>）</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記憶のテキストベースの短い要約</a:t>
            </a:r>
            <a:r>
              <a:rPr sz="1800" dirty="0">
                <a:latin typeface="游ゴシック" panose="020B0400000000000000" pitchFamily="50" charset="-128"/>
                <a:ea typeface="游ゴシック" panose="020B0400000000000000" pitchFamily="50" charset="-128"/>
              </a:rPr>
              <a:t>。</a:t>
            </a:r>
          </a:p>
          <a:p>
            <a:pPr lvl="1"/>
            <a:r>
              <a:rPr sz="1800" b="1" dirty="0" err="1">
                <a:latin typeface="游ゴシック" panose="020B0400000000000000" pitchFamily="50" charset="-128"/>
                <a:ea typeface="游ゴシック" panose="020B0400000000000000" pitchFamily="50" charset="-128"/>
              </a:rPr>
              <a:t>意味ベクトル（Vector</a:t>
            </a:r>
            <a:r>
              <a:rPr sz="1800" b="1" dirty="0">
                <a:latin typeface="游ゴシック" panose="020B0400000000000000" pitchFamily="50" charset="-128"/>
                <a:ea typeface="游ゴシック" panose="020B0400000000000000" pitchFamily="50" charset="-128"/>
              </a:rPr>
              <a:t>）</a:t>
            </a:r>
            <a:r>
              <a:rPr sz="1800" dirty="0">
                <a:latin typeface="游ゴシック" panose="020B0400000000000000" pitchFamily="50" charset="-128"/>
                <a:ea typeface="游ゴシック" panose="020B0400000000000000" pitchFamily="50" charset="-128"/>
              </a:rPr>
              <a:t>: float32（精密）および int3（軽量）による空間座標。</a:t>
            </a:r>
          </a:p>
          <a:p>
            <a:pPr lvl="1"/>
            <a:r>
              <a:rPr sz="1800" b="1" dirty="0" err="1">
                <a:latin typeface="游ゴシック" panose="020B0400000000000000" pitchFamily="50" charset="-128"/>
                <a:ea typeface="游ゴシック" panose="020B0400000000000000" pitchFamily="50" charset="-128"/>
              </a:rPr>
              <a:t>語義DNA（MiniCube</a:t>
            </a:r>
            <a:r>
              <a:rPr sz="1800" b="1" dirty="0">
                <a:latin typeface="游ゴシック" panose="020B0400000000000000" pitchFamily="50" charset="-128"/>
                <a:ea typeface="游ゴシック" panose="020B0400000000000000" pitchFamily="50" charset="-128"/>
              </a:rPr>
              <a:t>）</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記憶の核心を成す象徴的なキーフレーズ群</a:t>
            </a:r>
            <a:r>
              <a:rPr sz="1800" dirty="0">
                <a:latin typeface="游ゴシック" panose="020B0400000000000000" pitchFamily="50" charset="-128"/>
                <a:ea typeface="游ゴシック" panose="020B0400000000000000" pitchFamily="50" charset="-128"/>
              </a:rPr>
              <a:t>。</a:t>
            </a:r>
          </a:p>
          <a:p>
            <a:pPr lvl="1"/>
            <a:r>
              <a:rPr sz="1800" b="1" dirty="0" err="1">
                <a:latin typeface="游ゴシック" panose="020B0400000000000000" pitchFamily="50" charset="-128"/>
                <a:ea typeface="游ゴシック" panose="020B0400000000000000" pitchFamily="50" charset="-128"/>
              </a:rPr>
              <a:t>メタデータ（Trust</a:t>
            </a:r>
            <a:r>
              <a:rPr sz="1800" b="1" dirty="0">
                <a:latin typeface="游ゴシック" panose="020B0400000000000000" pitchFamily="50" charset="-128"/>
                <a:ea typeface="游ゴシック" panose="020B0400000000000000" pitchFamily="50" charset="-128"/>
              </a:rPr>
              <a:t> Struct）</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引力（Gravity</a:t>
            </a:r>
            <a:r>
              <a:rPr sz="1800" dirty="0">
                <a:latin typeface="游ゴシック" panose="020B0400000000000000" pitchFamily="50" charset="-128"/>
                <a:ea typeface="游ゴシック" panose="020B0400000000000000" pitchFamily="50" charset="-128"/>
              </a:rPr>
              <a:t>）、</a:t>
            </a:r>
            <a:r>
              <a:rPr sz="1800" dirty="0" err="1">
                <a:latin typeface="游ゴシック" panose="020B0400000000000000" pitchFamily="50" charset="-128"/>
                <a:ea typeface="游ゴシック" panose="020B0400000000000000" pitchFamily="50" charset="-128"/>
              </a:rPr>
              <a:t>鮮度（Freshness</a:t>
            </a:r>
            <a:r>
              <a:rPr sz="1800" dirty="0">
                <a:latin typeface="游ゴシック" panose="020B0400000000000000" pitchFamily="50" charset="-128"/>
                <a:ea typeface="游ゴシック" panose="020B0400000000000000" pitchFamily="50" charset="-128"/>
              </a:rPr>
              <a:t>）、</a:t>
            </a:r>
            <a:r>
              <a:rPr sz="1800" dirty="0" err="1">
                <a:latin typeface="游ゴシック" panose="020B0400000000000000" pitchFamily="50" charset="-128"/>
                <a:ea typeface="游ゴシック" panose="020B0400000000000000" pitchFamily="50" charset="-128"/>
              </a:rPr>
              <a:t>信頼性（Provenance）などの生命的パラメータ</a:t>
            </a:r>
            <a:r>
              <a:rPr sz="1800" dirty="0">
                <a:latin typeface="游ゴシック" panose="020B0400000000000000" pitchFamily="50" charset="-128"/>
                <a:ea typeface="游ゴシック" panose="020B0400000000000000" pitchFamily="50" charset="-128"/>
              </a:rPr>
              <a:t>。</a:t>
            </a:r>
          </a:p>
          <a:p>
            <a:pPr lvl="1"/>
            <a:r>
              <a:rPr sz="1800" b="1" dirty="0" err="1">
                <a:latin typeface="游ゴシック" panose="020B0400000000000000" pitchFamily="50" charset="-128"/>
                <a:ea typeface="游ゴシック" panose="020B0400000000000000" pitchFamily="50" charset="-128"/>
              </a:rPr>
              <a:t>系統情報</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世代番号（Generation</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Number）や、派生元（Origin</a:t>
            </a:r>
            <a:r>
              <a:rPr sz="1800" dirty="0">
                <a:latin typeface="游ゴシック" panose="020B0400000000000000" pitchFamily="50" charset="-128"/>
                <a:ea typeface="游ゴシック" panose="020B0400000000000000" pitchFamily="50" charset="-128"/>
              </a:rPr>
              <a:t> / </a:t>
            </a:r>
            <a:r>
              <a:rPr sz="1800" dirty="0" err="1">
                <a:latin typeface="游ゴシック" panose="020B0400000000000000" pitchFamily="50" charset="-128"/>
                <a:ea typeface="游ゴシック" panose="020B0400000000000000" pitchFamily="50" charset="-128"/>
              </a:rPr>
              <a:t>Active）の依存関係を保持</a:t>
            </a:r>
            <a:r>
              <a:rPr sz="1800" dirty="0">
                <a:latin typeface="游ゴシック" panose="020B0400000000000000" pitchFamily="50" charset="-128"/>
                <a:ea typeface="游ゴシック" panose="020B0400000000000000" pitchFamily="50" charset="-128"/>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6375" y="274638"/>
            <a:ext cx="8229600" cy="1143000"/>
          </a:xfrm>
        </p:spPr>
        <p:txBody>
          <a:bodyPr/>
          <a:lstStyle/>
          <a:p>
            <a:pPr>
              <a:defRPr b="1">
                <a:solidFill>
                  <a:srgbClr val="003366"/>
                </a:solidFill>
              </a:defRPr>
            </a:pPr>
            <a:r>
              <a:rPr dirty="0" err="1">
                <a:latin typeface="游ゴシック" panose="020B0400000000000000" pitchFamily="50" charset="-128"/>
                <a:ea typeface="游ゴシック" panose="020B0400000000000000" pitchFamily="50" charset="-128"/>
              </a:rPr>
              <a:t>軽量化のメカニズム</a:t>
            </a:r>
            <a:endParaRPr dirty="0">
              <a:latin typeface="游ゴシック" panose="020B0400000000000000" pitchFamily="50" charset="-128"/>
              <a:ea typeface="游ゴシック" panose="020B0400000000000000" pitchFamily="50" charset="-128"/>
            </a:endParaRPr>
          </a:p>
        </p:txBody>
      </p:sp>
      <p:sp>
        <p:nvSpPr>
          <p:cNvPr id="3" name="Content Placeholder 2"/>
          <p:cNvSpPr>
            <a:spLocks noGrp="1"/>
          </p:cNvSpPr>
          <p:nvPr>
            <p:ph idx="1"/>
          </p:nvPr>
        </p:nvSpPr>
        <p:spPr>
          <a:xfrm>
            <a:off x="457199" y="1600200"/>
            <a:ext cx="11187953" cy="4525963"/>
          </a:xfrm>
        </p:spPr>
        <p:txBody>
          <a:bodyPr/>
          <a:lstStyle/>
          <a:p>
            <a:endParaRPr dirty="0">
              <a:latin typeface="游ゴシック" panose="020B0400000000000000" pitchFamily="50" charset="-128"/>
              <a:ea typeface="游ゴシック" panose="020B0400000000000000" pitchFamily="50" charset="-128"/>
            </a:endParaRPr>
          </a:p>
          <a:p>
            <a:r>
              <a:rPr sz="2000" b="1" dirty="0" err="1">
                <a:latin typeface="游ゴシック" panose="020B0400000000000000" pitchFamily="50" charset="-128"/>
                <a:ea typeface="游ゴシック" panose="020B0400000000000000" pitchFamily="50" charset="-128"/>
              </a:rPr>
              <a:t>直感的なフィルタリングによる超高速化</a:t>
            </a:r>
            <a:endParaRPr sz="2000" b="1" dirty="0">
              <a:latin typeface="游ゴシック" panose="020B0400000000000000" pitchFamily="50" charset="-128"/>
              <a:ea typeface="游ゴシック" panose="020B0400000000000000" pitchFamily="50" charset="-128"/>
            </a:endParaRPr>
          </a:p>
          <a:p>
            <a:pPr lvl="1"/>
            <a:r>
              <a:rPr sz="1800" b="1" dirty="0" err="1">
                <a:latin typeface="游ゴシック" panose="020B0400000000000000" pitchFamily="50" charset="-128"/>
                <a:ea typeface="游ゴシック" panose="020B0400000000000000" pitchFamily="50" charset="-128"/>
              </a:rPr>
              <a:t>課題</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膨大な記憶に対する高次元ベクトルの全文検索・計算は、I</a:t>
            </a:r>
            <a:r>
              <a:rPr sz="1800" dirty="0">
                <a:latin typeface="游ゴシック" panose="020B0400000000000000" pitchFamily="50" charset="-128"/>
                <a:ea typeface="游ゴシック" panose="020B0400000000000000" pitchFamily="50" charset="-128"/>
              </a:rPr>
              <a:t>/</a:t>
            </a:r>
            <a:r>
              <a:rPr sz="1800" dirty="0" err="1">
                <a:latin typeface="游ゴシック" panose="020B0400000000000000" pitchFamily="50" charset="-128"/>
                <a:ea typeface="游ゴシック" panose="020B0400000000000000" pitchFamily="50" charset="-128"/>
              </a:rPr>
              <a:t>O負荷と計算コスト（O</a:t>
            </a:r>
            <a:r>
              <a:rPr sz="1800" dirty="0">
                <a:latin typeface="游ゴシック" panose="020B0400000000000000" pitchFamily="50" charset="-128"/>
                <a:ea typeface="游ゴシック" panose="020B0400000000000000" pitchFamily="50" charset="-128"/>
              </a:rPr>
              <a:t>(N)）</a:t>
            </a:r>
            <a:r>
              <a:rPr sz="1800" dirty="0" err="1">
                <a:latin typeface="游ゴシック" panose="020B0400000000000000" pitchFamily="50" charset="-128"/>
                <a:ea typeface="游ゴシック" panose="020B0400000000000000" pitchFamily="50" charset="-128"/>
              </a:rPr>
              <a:t>を爆発させます</a:t>
            </a:r>
            <a:r>
              <a:rPr sz="1800" dirty="0">
                <a:latin typeface="游ゴシック" panose="020B0400000000000000" pitchFamily="50" charset="-128"/>
                <a:ea typeface="游ゴシック" panose="020B0400000000000000" pitchFamily="50" charset="-128"/>
              </a:rPr>
              <a:t>。</a:t>
            </a:r>
          </a:p>
          <a:p>
            <a:pPr lvl="1"/>
            <a:r>
              <a:rPr sz="1800" b="1" dirty="0" err="1">
                <a:latin typeface="游ゴシック" panose="020B0400000000000000" pitchFamily="50" charset="-128"/>
                <a:ea typeface="游ゴシック" panose="020B0400000000000000" pitchFamily="50" charset="-128"/>
              </a:rPr>
              <a:t>アプローチ</a:t>
            </a:r>
            <a:r>
              <a:rPr sz="1800" dirty="0">
                <a:latin typeface="游ゴシック" panose="020B0400000000000000" pitchFamily="50" charset="-128"/>
                <a:ea typeface="游ゴシック" panose="020B0400000000000000" pitchFamily="50" charset="-128"/>
              </a:rPr>
              <a:t>:</a:t>
            </a:r>
          </a:p>
          <a:p>
            <a:pPr lvl="2"/>
            <a:r>
              <a:rPr sz="1600" b="1" dirty="0">
                <a:latin typeface="游ゴシック" panose="020B0400000000000000" pitchFamily="50" charset="-128"/>
                <a:ea typeface="游ゴシック" panose="020B0400000000000000" pitchFamily="50" charset="-128"/>
              </a:rPr>
              <a:t>int3 </a:t>
            </a:r>
            <a:r>
              <a:rPr sz="1600" b="1" dirty="0" err="1">
                <a:latin typeface="游ゴシック" panose="020B0400000000000000" pitchFamily="50" charset="-128"/>
                <a:ea typeface="游ゴシック" panose="020B0400000000000000" pitchFamily="50" charset="-128"/>
              </a:rPr>
              <a:t>グリッド</a:t>
            </a:r>
            <a:r>
              <a:rPr sz="1600" dirty="0">
                <a:latin typeface="游ゴシック" panose="020B0400000000000000" pitchFamily="50" charset="-128"/>
                <a:ea typeface="游ゴシック" panose="020B0400000000000000" pitchFamily="50" charset="-128"/>
              </a:rPr>
              <a:t>: </a:t>
            </a:r>
            <a:r>
              <a:rPr sz="1600" dirty="0" err="1">
                <a:latin typeface="游ゴシック" panose="020B0400000000000000" pitchFamily="50" charset="-128"/>
                <a:ea typeface="游ゴシック" panose="020B0400000000000000" pitchFamily="50" charset="-128"/>
              </a:rPr>
              <a:t>空間を粗いブロックに分割し、ホットスポットを高速に特定</a:t>
            </a:r>
            <a:r>
              <a:rPr sz="1600" dirty="0">
                <a:latin typeface="游ゴシック" panose="020B0400000000000000" pitchFamily="50" charset="-128"/>
                <a:ea typeface="游ゴシック" panose="020B0400000000000000" pitchFamily="50" charset="-128"/>
              </a:rPr>
              <a:t>。</a:t>
            </a:r>
          </a:p>
          <a:p>
            <a:pPr lvl="2"/>
            <a:r>
              <a:rPr sz="1600" b="1" dirty="0">
                <a:latin typeface="游ゴシック" panose="020B0400000000000000" pitchFamily="50" charset="-128"/>
                <a:ea typeface="游ゴシック" panose="020B0400000000000000" pitchFamily="50" charset="-128"/>
              </a:rPr>
              <a:t>360³ </a:t>
            </a:r>
            <a:r>
              <a:rPr sz="1600" b="1" dirty="0" err="1">
                <a:latin typeface="游ゴシック" panose="020B0400000000000000" pitchFamily="50" charset="-128"/>
                <a:ea typeface="游ゴシック" panose="020B0400000000000000" pitchFamily="50" charset="-128"/>
              </a:rPr>
              <a:t>方向量子化</a:t>
            </a:r>
            <a:r>
              <a:rPr sz="1600" dirty="0">
                <a:latin typeface="游ゴシック" panose="020B0400000000000000" pitchFamily="50" charset="-128"/>
                <a:ea typeface="游ゴシック" panose="020B0400000000000000" pitchFamily="50" charset="-128"/>
              </a:rPr>
              <a:t>: </a:t>
            </a:r>
            <a:r>
              <a:rPr sz="1600" dirty="0" err="1">
                <a:latin typeface="游ゴシック" panose="020B0400000000000000" pitchFamily="50" charset="-128"/>
                <a:ea typeface="游ゴシック" panose="020B0400000000000000" pitchFamily="50" charset="-128"/>
              </a:rPr>
              <a:t>ベクトルの方向性を荒く分類し、直感的に関連性を判断</a:t>
            </a:r>
            <a:r>
              <a:rPr sz="1600" dirty="0">
                <a:latin typeface="游ゴシック" panose="020B0400000000000000" pitchFamily="50" charset="-128"/>
                <a:ea typeface="游ゴシック" panose="020B0400000000000000" pitchFamily="50" charset="-128"/>
              </a:rPr>
              <a:t>。</a:t>
            </a:r>
          </a:p>
          <a:p>
            <a:pPr lvl="2"/>
            <a:r>
              <a:rPr sz="1600" b="1" dirty="0">
                <a:latin typeface="游ゴシック" panose="020B0400000000000000" pitchFamily="50" charset="-128"/>
                <a:ea typeface="游ゴシック" panose="020B0400000000000000" pitchFamily="50" charset="-128"/>
              </a:rPr>
              <a:t>7階調バケット</a:t>
            </a:r>
            <a:r>
              <a:rPr sz="1600" dirty="0">
                <a:latin typeface="游ゴシック" panose="020B0400000000000000" pitchFamily="50" charset="-128"/>
                <a:ea typeface="游ゴシック" panose="020B0400000000000000" pitchFamily="50" charset="-128"/>
              </a:rPr>
              <a:t>: </a:t>
            </a:r>
            <a:r>
              <a:rPr sz="1600" dirty="0" err="1">
                <a:latin typeface="游ゴシック" panose="020B0400000000000000" pitchFamily="50" charset="-128"/>
                <a:ea typeface="游ゴシック" panose="020B0400000000000000" pitchFamily="50" charset="-128"/>
              </a:rPr>
              <a:t>スコア差分を段階的に分類し、微細なノイズを計算対象から除外</a:t>
            </a:r>
            <a:r>
              <a:rPr sz="1600" dirty="0">
                <a:latin typeface="游ゴシック" panose="020B0400000000000000" pitchFamily="50" charset="-128"/>
                <a:ea typeface="游ゴシック" panose="020B0400000000000000" pitchFamily="50" charset="-128"/>
              </a:rPr>
              <a:t>。</a:t>
            </a:r>
          </a:p>
          <a:p>
            <a:pPr lvl="1"/>
            <a:r>
              <a:rPr sz="1800" b="1" dirty="0" err="1">
                <a:latin typeface="游ゴシック" panose="020B0400000000000000" pitchFamily="50" charset="-128"/>
                <a:ea typeface="游ゴシック" panose="020B0400000000000000" pitchFamily="50" charset="-128"/>
              </a:rPr>
              <a:t>結論</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粗探索」でアタリをつけ</a:t>
            </a:r>
            <a:r>
              <a:rPr sz="1800" dirty="0">
                <a:latin typeface="游ゴシック" panose="020B0400000000000000" pitchFamily="50" charset="-128"/>
                <a:ea typeface="游ゴシック" panose="020B0400000000000000" pitchFamily="50" charset="-128"/>
              </a:rPr>
              <a:t>、「</a:t>
            </a:r>
            <a:r>
              <a:rPr sz="1800" dirty="0" err="1">
                <a:latin typeface="游ゴシック" panose="020B0400000000000000" pitchFamily="50" charset="-128"/>
                <a:ea typeface="游ゴシック" panose="020B0400000000000000" pitchFamily="50" charset="-128"/>
              </a:rPr>
              <a:t>精査」で厳密に評価する二段階戦略により、大規模データでも極めて高速に動作します</a:t>
            </a:r>
            <a:r>
              <a:rPr sz="1800" dirty="0">
                <a:latin typeface="游ゴシック" panose="020B0400000000000000" pitchFamily="50" charset="-128"/>
                <a:ea typeface="游ゴシック" panose="020B0400000000000000" pitchFamily="50" charset="-128"/>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5835" y="274638"/>
            <a:ext cx="11645153" cy="1143000"/>
          </a:xfrm>
        </p:spPr>
        <p:txBody>
          <a:bodyPr>
            <a:normAutofit fontScale="90000"/>
          </a:bodyPr>
          <a:lstStyle/>
          <a:p>
            <a:pPr>
              <a:defRPr b="1">
                <a:solidFill>
                  <a:srgbClr val="003366"/>
                </a:solidFill>
              </a:defRPr>
            </a:pPr>
            <a:r>
              <a:rPr dirty="0">
                <a:latin typeface="游ゴシック" panose="020B0400000000000000" pitchFamily="50" charset="-128"/>
                <a:ea typeface="游ゴシック" panose="020B0400000000000000" pitchFamily="50" charset="-128"/>
              </a:rPr>
              <a:t>SRAG (Semantic Retrieval-Augmented Generation)</a:t>
            </a:r>
          </a:p>
        </p:txBody>
      </p:sp>
      <p:sp>
        <p:nvSpPr>
          <p:cNvPr id="3" name="Content Placeholder 2"/>
          <p:cNvSpPr>
            <a:spLocks noGrp="1"/>
          </p:cNvSpPr>
          <p:nvPr>
            <p:ph idx="1"/>
          </p:nvPr>
        </p:nvSpPr>
        <p:spPr>
          <a:xfrm>
            <a:off x="457200" y="1600200"/>
            <a:ext cx="11178988" cy="4525963"/>
          </a:xfrm>
        </p:spPr>
        <p:txBody>
          <a:bodyPr/>
          <a:lstStyle/>
          <a:p>
            <a:endParaRPr dirty="0">
              <a:latin typeface="游ゴシック" panose="020B0400000000000000" pitchFamily="50" charset="-128"/>
              <a:ea typeface="游ゴシック" panose="020B0400000000000000" pitchFamily="50" charset="-128"/>
            </a:endParaRPr>
          </a:p>
          <a:p>
            <a:r>
              <a:rPr sz="2000" b="1" dirty="0" err="1">
                <a:latin typeface="游ゴシック" panose="020B0400000000000000" pitchFamily="50" charset="-128"/>
                <a:ea typeface="游ゴシック" panose="020B0400000000000000" pitchFamily="50" charset="-128"/>
              </a:rPr>
              <a:t>LLMを拡張する</a:t>
            </a:r>
            <a:r>
              <a:rPr sz="2000" b="1" dirty="0">
                <a:latin typeface="游ゴシック" panose="020B0400000000000000" pitchFamily="50" charset="-128"/>
                <a:ea typeface="游ゴシック" panose="020B0400000000000000" pitchFamily="50" charset="-128"/>
              </a:rPr>
              <a:t> “</a:t>
            </a:r>
            <a:r>
              <a:rPr sz="2000" b="1" dirty="0" err="1">
                <a:latin typeface="游ゴシック" panose="020B0400000000000000" pitchFamily="50" charset="-128"/>
                <a:ea typeface="游ゴシック" panose="020B0400000000000000" pitchFamily="50" charset="-128"/>
              </a:rPr>
              <a:t>意味検索</a:t>
            </a:r>
            <a:r>
              <a:rPr sz="2000" b="1" dirty="0">
                <a:latin typeface="游ゴシック" panose="020B0400000000000000" pitchFamily="50" charset="-128"/>
                <a:ea typeface="游ゴシック" panose="020B0400000000000000" pitchFamily="50" charset="-128"/>
              </a:rPr>
              <a:t>” </a:t>
            </a:r>
            <a:r>
              <a:rPr sz="2000" b="1" dirty="0" err="1">
                <a:latin typeface="游ゴシック" panose="020B0400000000000000" pitchFamily="50" charset="-128"/>
                <a:ea typeface="游ゴシック" panose="020B0400000000000000" pitchFamily="50" charset="-128"/>
              </a:rPr>
              <a:t>エンジン</a:t>
            </a:r>
            <a:endParaRPr sz="2000" b="1" dirty="0">
              <a:latin typeface="游ゴシック" panose="020B0400000000000000" pitchFamily="50" charset="-128"/>
              <a:ea typeface="游ゴシック" panose="020B0400000000000000" pitchFamily="50" charset="-128"/>
            </a:endParaRPr>
          </a:p>
          <a:p>
            <a:pPr lvl="1"/>
            <a:r>
              <a:rPr sz="1800" b="1" dirty="0" err="1">
                <a:latin typeface="游ゴシック" panose="020B0400000000000000" pitchFamily="50" charset="-128"/>
                <a:ea typeface="游ゴシック" panose="020B0400000000000000" pitchFamily="50" charset="-128"/>
              </a:rPr>
              <a:t>従来のRAGとの違い</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インデックス無しの長文を丸呑みさせるのではなく、意味的に整理・代謝されたキューブのみを提供します</a:t>
            </a:r>
            <a:r>
              <a:rPr sz="1800" dirty="0">
                <a:latin typeface="游ゴシック" panose="020B0400000000000000" pitchFamily="50" charset="-128"/>
                <a:ea typeface="游ゴシック" panose="020B0400000000000000" pitchFamily="50" charset="-128"/>
              </a:rPr>
              <a:t>。</a:t>
            </a:r>
          </a:p>
          <a:p>
            <a:pPr lvl="1"/>
            <a:r>
              <a:rPr sz="1800" b="1" dirty="0" err="1">
                <a:latin typeface="游ゴシック" panose="020B0400000000000000" pitchFamily="50" charset="-128"/>
                <a:ea typeface="游ゴシック" panose="020B0400000000000000" pitchFamily="50" charset="-128"/>
              </a:rPr>
              <a:t>プロセス</a:t>
            </a:r>
            <a:r>
              <a:rPr sz="1800" dirty="0">
                <a:latin typeface="游ゴシック" panose="020B0400000000000000" pitchFamily="50" charset="-128"/>
                <a:ea typeface="游ゴシック" panose="020B0400000000000000" pitchFamily="50" charset="-128"/>
              </a:rPr>
              <a:t>:</a:t>
            </a:r>
          </a:p>
          <a:p>
            <a:pPr lvl="2"/>
            <a:r>
              <a:rPr sz="1600" dirty="0">
                <a:latin typeface="游ゴシック" panose="020B0400000000000000" pitchFamily="50" charset="-128"/>
                <a:ea typeface="游ゴシック" panose="020B0400000000000000" pitchFamily="50" charset="-128"/>
              </a:rPr>
              <a:t>1. 粗探索（int3 / </a:t>
            </a:r>
            <a:r>
              <a:rPr sz="1600" dirty="0" err="1">
                <a:latin typeface="游ゴシック" panose="020B0400000000000000" pitchFamily="50" charset="-128"/>
                <a:ea typeface="游ゴシック" panose="020B0400000000000000" pitchFamily="50" charset="-128"/>
              </a:rPr>
              <a:t>方向量子化）による高速な候補絞り込み</a:t>
            </a:r>
            <a:r>
              <a:rPr sz="1600" dirty="0">
                <a:latin typeface="游ゴシック" panose="020B0400000000000000" pitchFamily="50" charset="-128"/>
                <a:ea typeface="游ゴシック" panose="020B0400000000000000" pitchFamily="50" charset="-128"/>
              </a:rPr>
              <a:t>。</a:t>
            </a:r>
          </a:p>
          <a:p>
            <a:pPr lvl="2"/>
            <a:r>
              <a:rPr sz="1600" dirty="0">
                <a:latin typeface="游ゴシック" panose="020B0400000000000000" pitchFamily="50" charset="-128"/>
                <a:ea typeface="游ゴシック" panose="020B0400000000000000" pitchFamily="50" charset="-128"/>
              </a:rPr>
              <a:t>2. </a:t>
            </a:r>
            <a:r>
              <a:rPr sz="1600" dirty="0" err="1">
                <a:latin typeface="游ゴシック" panose="020B0400000000000000" pitchFamily="50" charset="-128"/>
                <a:ea typeface="游ゴシック" panose="020B0400000000000000" pitchFamily="50" charset="-128"/>
              </a:rPr>
              <a:t>精査（MiniCubeの語義DNA</a:t>
            </a:r>
            <a:r>
              <a:rPr sz="1600" dirty="0">
                <a:latin typeface="游ゴシック" panose="020B0400000000000000" pitchFamily="50" charset="-128"/>
                <a:ea typeface="游ゴシック" panose="020B0400000000000000" pitchFamily="50" charset="-128"/>
              </a:rPr>
              <a:t> + </a:t>
            </a:r>
            <a:r>
              <a:rPr sz="1600" dirty="0" err="1">
                <a:latin typeface="游ゴシック" panose="020B0400000000000000" pitchFamily="50" charset="-128"/>
                <a:ea typeface="游ゴシック" panose="020B0400000000000000" pitchFamily="50" charset="-128"/>
              </a:rPr>
              <a:t>ベクトル類似度）による厳密な抽出</a:t>
            </a:r>
            <a:r>
              <a:rPr sz="1600" dirty="0">
                <a:latin typeface="游ゴシック" panose="020B0400000000000000" pitchFamily="50" charset="-128"/>
                <a:ea typeface="游ゴシック" panose="020B0400000000000000" pitchFamily="50" charset="-128"/>
              </a:rPr>
              <a:t>。</a:t>
            </a:r>
          </a:p>
          <a:p>
            <a:pPr lvl="2"/>
            <a:r>
              <a:rPr sz="1600" dirty="0">
                <a:latin typeface="游ゴシック" panose="020B0400000000000000" pitchFamily="50" charset="-128"/>
                <a:ea typeface="游ゴシック" panose="020B0400000000000000" pitchFamily="50" charset="-128"/>
              </a:rPr>
              <a:t>3. </a:t>
            </a:r>
            <a:r>
              <a:rPr sz="1600" dirty="0" err="1">
                <a:latin typeface="游ゴシック" panose="020B0400000000000000" pitchFamily="50" charset="-128"/>
                <a:ea typeface="游ゴシック" panose="020B0400000000000000" pitchFamily="50" charset="-128"/>
              </a:rPr>
              <a:t>厳選されたTop-Kの「意味キューブ」をメタデータと共にLLMへ提供</a:t>
            </a:r>
            <a:r>
              <a:rPr sz="1600" dirty="0">
                <a:latin typeface="游ゴシック" panose="020B0400000000000000" pitchFamily="50" charset="-128"/>
                <a:ea typeface="游ゴシック" panose="020B0400000000000000" pitchFamily="50" charset="-128"/>
              </a:rPr>
              <a:t>。</a:t>
            </a:r>
          </a:p>
          <a:p>
            <a:pPr lvl="1"/>
            <a:r>
              <a:rPr sz="1800" b="1" dirty="0" err="1">
                <a:latin typeface="游ゴシック" panose="020B0400000000000000" pitchFamily="50" charset="-128"/>
                <a:ea typeface="游ゴシック" panose="020B0400000000000000" pitchFamily="50" charset="-128"/>
              </a:rPr>
              <a:t>効果</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LLMの入力トークンを最小化しつつ、推論の精度と一貫性を飛躍的に向上させます</a:t>
            </a:r>
            <a:r>
              <a:rPr sz="1800" dirty="0">
                <a:latin typeface="游ゴシック" panose="020B0400000000000000" pitchFamily="50" charset="-128"/>
                <a:ea typeface="游ゴシック" panose="020B0400000000000000" pitchFamily="50" charset="-128"/>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1143000"/>
          </a:xfrm>
        </p:spPr>
        <p:txBody>
          <a:bodyPr/>
          <a:lstStyle/>
          <a:p>
            <a:pPr>
              <a:defRPr b="1">
                <a:solidFill>
                  <a:srgbClr val="003366"/>
                </a:solidFill>
              </a:defRPr>
            </a:pPr>
            <a:r>
              <a:rPr dirty="0" err="1">
                <a:latin typeface="游ゴシック" panose="020B0400000000000000" pitchFamily="50" charset="-128"/>
                <a:ea typeface="游ゴシック" panose="020B0400000000000000" pitchFamily="50" charset="-128"/>
              </a:rPr>
              <a:t>引力マップ（Attraction</a:t>
            </a:r>
            <a:r>
              <a:rPr dirty="0">
                <a:latin typeface="游ゴシック" panose="020B0400000000000000" pitchFamily="50" charset="-128"/>
                <a:ea typeface="游ゴシック" panose="020B0400000000000000" pitchFamily="50" charset="-128"/>
              </a:rPr>
              <a:t> Map）</a:t>
            </a:r>
          </a:p>
        </p:txBody>
      </p:sp>
      <p:sp>
        <p:nvSpPr>
          <p:cNvPr id="3" name="Content Placeholder 2"/>
          <p:cNvSpPr>
            <a:spLocks noGrp="1"/>
          </p:cNvSpPr>
          <p:nvPr>
            <p:ph idx="1"/>
          </p:nvPr>
        </p:nvSpPr>
        <p:spPr>
          <a:xfrm>
            <a:off x="457200" y="1600200"/>
            <a:ext cx="11125200" cy="4525963"/>
          </a:xfrm>
        </p:spPr>
        <p:txBody>
          <a:bodyPr/>
          <a:lstStyle/>
          <a:p>
            <a:endParaRPr dirty="0">
              <a:latin typeface="游ゴシック" panose="020B0400000000000000" pitchFamily="50" charset="-128"/>
              <a:ea typeface="游ゴシック" panose="020B0400000000000000" pitchFamily="50" charset="-128"/>
            </a:endParaRPr>
          </a:p>
          <a:p>
            <a:r>
              <a:rPr sz="2000" b="1" dirty="0" err="1">
                <a:latin typeface="游ゴシック" panose="020B0400000000000000" pitchFamily="50" charset="-128"/>
                <a:ea typeface="游ゴシック" panose="020B0400000000000000" pitchFamily="50" charset="-128"/>
              </a:rPr>
              <a:t>記憶の「方向性」と「距離」を可視化する</a:t>
            </a:r>
            <a:endParaRPr sz="2000" b="1" dirty="0">
              <a:latin typeface="游ゴシック" panose="020B0400000000000000" pitchFamily="50" charset="-128"/>
              <a:ea typeface="游ゴシック" panose="020B0400000000000000" pitchFamily="50" charset="-128"/>
            </a:endParaRPr>
          </a:p>
          <a:p>
            <a:pPr lvl="1"/>
            <a:r>
              <a:rPr sz="1800" b="1" dirty="0" err="1">
                <a:latin typeface="游ゴシック" panose="020B0400000000000000" pitchFamily="50" charset="-128"/>
                <a:ea typeface="游ゴシック" panose="020B0400000000000000" pitchFamily="50" charset="-128"/>
              </a:rPr>
              <a:t>機能</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複数のキューブ間の関係性を、物理的な「引力」としてモデル化し、視点クラスタを検出します</a:t>
            </a:r>
            <a:r>
              <a:rPr sz="1800" dirty="0">
                <a:latin typeface="游ゴシック" panose="020B0400000000000000" pitchFamily="50" charset="-128"/>
                <a:ea typeface="游ゴシック" panose="020B0400000000000000" pitchFamily="50" charset="-128"/>
              </a:rPr>
              <a:t>。</a:t>
            </a:r>
          </a:p>
          <a:p>
            <a:pPr lvl="1"/>
            <a:r>
              <a:rPr sz="1800" b="1" dirty="0" err="1">
                <a:latin typeface="游ゴシック" panose="020B0400000000000000" pitchFamily="50" charset="-128"/>
                <a:ea typeface="游ゴシック" panose="020B0400000000000000" pitchFamily="50" charset="-128"/>
              </a:rPr>
              <a:t>評価指標</a:t>
            </a:r>
            <a:r>
              <a:rPr sz="1800" dirty="0">
                <a:latin typeface="游ゴシック" panose="020B0400000000000000" pitchFamily="50" charset="-128"/>
                <a:ea typeface="游ゴシック" panose="020B0400000000000000" pitchFamily="50" charset="-128"/>
              </a:rPr>
              <a:t>:</a:t>
            </a:r>
          </a:p>
          <a:p>
            <a:pPr lvl="2"/>
            <a:r>
              <a:rPr sz="1600" dirty="0" err="1">
                <a:latin typeface="游ゴシック" panose="020B0400000000000000" pitchFamily="50" charset="-128"/>
                <a:ea typeface="游ゴシック" panose="020B0400000000000000" pitchFamily="50" charset="-128"/>
              </a:rPr>
              <a:t>スカラー類似度（コサイン距離</a:t>
            </a:r>
            <a:r>
              <a:rPr sz="1600" dirty="0">
                <a:latin typeface="游ゴシック" panose="020B0400000000000000" pitchFamily="50" charset="-128"/>
                <a:ea typeface="游ゴシック" panose="020B0400000000000000" pitchFamily="50" charset="-128"/>
              </a:rPr>
              <a:t>）</a:t>
            </a:r>
          </a:p>
          <a:p>
            <a:pPr lvl="2"/>
            <a:r>
              <a:rPr sz="1600" dirty="0" err="1">
                <a:latin typeface="游ゴシック" panose="020B0400000000000000" pitchFamily="50" charset="-128"/>
                <a:ea typeface="游ゴシック" panose="020B0400000000000000" pitchFamily="50" charset="-128"/>
              </a:rPr>
              <a:t>方向性減衰（ベクトルの向きのズレ</a:t>
            </a:r>
            <a:r>
              <a:rPr sz="1600" dirty="0">
                <a:latin typeface="游ゴシック" panose="020B0400000000000000" pitchFamily="50" charset="-128"/>
                <a:ea typeface="游ゴシック" panose="020B0400000000000000" pitchFamily="50" charset="-128"/>
              </a:rPr>
              <a:t>）</a:t>
            </a:r>
          </a:p>
          <a:p>
            <a:pPr lvl="2"/>
            <a:r>
              <a:rPr sz="1600" dirty="0" err="1">
                <a:latin typeface="游ゴシック" panose="020B0400000000000000" pitchFamily="50" charset="-128"/>
                <a:ea typeface="游ゴシック" panose="020B0400000000000000" pitchFamily="50" charset="-128"/>
              </a:rPr>
              <a:t>動的重み付け（Trustスコア</a:t>
            </a:r>
            <a:r>
              <a:rPr sz="1600" dirty="0">
                <a:latin typeface="游ゴシック" panose="020B0400000000000000" pitchFamily="50" charset="-128"/>
                <a:ea typeface="游ゴシック" panose="020B0400000000000000" pitchFamily="50" charset="-128"/>
              </a:rPr>
              <a:t> × Provenance）</a:t>
            </a:r>
          </a:p>
          <a:p>
            <a:pPr lvl="1"/>
            <a:r>
              <a:rPr sz="1800" b="1" dirty="0" err="1">
                <a:latin typeface="游ゴシック" panose="020B0400000000000000" pitchFamily="50" charset="-128"/>
                <a:ea typeface="游ゴシック" panose="020B0400000000000000" pitchFamily="50" charset="-128"/>
              </a:rPr>
              <a:t>特徴</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距離は近い（同じ話題）が、方向が違う（対立する意見</a:t>
            </a:r>
            <a:r>
              <a:rPr sz="1800" dirty="0">
                <a:latin typeface="游ゴシック" panose="020B0400000000000000" pitchFamily="50" charset="-128"/>
                <a:ea typeface="游ゴシック" panose="020B0400000000000000" pitchFamily="50" charset="-128"/>
              </a:rPr>
              <a:t>）」</a:t>
            </a:r>
            <a:r>
              <a:rPr sz="1800" dirty="0" err="1">
                <a:latin typeface="游ゴシック" panose="020B0400000000000000" pitchFamily="50" charset="-128"/>
                <a:ea typeface="游ゴシック" panose="020B0400000000000000" pitchFamily="50" charset="-128"/>
              </a:rPr>
              <a:t>という複雑な関係性を正確に捉え、平均化によるハルシネーションを未然に防ぎます</a:t>
            </a:r>
            <a:r>
              <a:rPr sz="1800" dirty="0">
                <a:latin typeface="游ゴシック" panose="020B0400000000000000" pitchFamily="50" charset="-128"/>
                <a:ea typeface="游ゴシック" panose="020B0400000000000000" pitchFamily="50" charset="-128"/>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5341" y="293782"/>
            <a:ext cx="8229600" cy="1143000"/>
          </a:xfrm>
        </p:spPr>
        <p:txBody>
          <a:bodyPr>
            <a:normAutofit fontScale="90000"/>
          </a:bodyPr>
          <a:lstStyle/>
          <a:p>
            <a:pPr>
              <a:defRPr b="1">
                <a:solidFill>
                  <a:srgbClr val="003366"/>
                </a:solidFill>
              </a:defRPr>
            </a:pPr>
            <a:r>
              <a:rPr dirty="0" err="1">
                <a:latin typeface="游ゴシック" panose="020B0400000000000000" pitchFamily="50" charset="-128"/>
                <a:ea typeface="游ゴシック" panose="020B0400000000000000" pitchFamily="50" charset="-128"/>
              </a:rPr>
              <a:t>葛藤検知（Conflict</a:t>
            </a:r>
            <a:r>
              <a:rPr dirty="0">
                <a:latin typeface="游ゴシック" panose="020B0400000000000000" pitchFamily="50" charset="-128"/>
                <a:ea typeface="游ゴシック" panose="020B0400000000000000" pitchFamily="50" charset="-128"/>
              </a:rPr>
              <a:t> Detection）</a:t>
            </a:r>
          </a:p>
        </p:txBody>
      </p:sp>
      <p:sp>
        <p:nvSpPr>
          <p:cNvPr id="3" name="Content Placeholder 2"/>
          <p:cNvSpPr>
            <a:spLocks noGrp="1"/>
          </p:cNvSpPr>
          <p:nvPr>
            <p:ph idx="1"/>
          </p:nvPr>
        </p:nvSpPr>
        <p:spPr>
          <a:xfrm>
            <a:off x="457200" y="1600200"/>
            <a:ext cx="11205882" cy="4525963"/>
          </a:xfrm>
        </p:spPr>
        <p:txBody>
          <a:bodyPr/>
          <a:lstStyle/>
          <a:p>
            <a:endParaRPr dirty="0">
              <a:latin typeface="游ゴシック" panose="020B0400000000000000" pitchFamily="50" charset="-128"/>
              <a:ea typeface="游ゴシック" panose="020B0400000000000000" pitchFamily="50" charset="-128"/>
            </a:endParaRPr>
          </a:p>
          <a:p>
            <a:r>
              <a:rPr sz="2000" b="1" dirty="0" err="1">
                <a:latin typeface="游ゴシック" panose="020B0400000000000000" pitchFamily="50" charset="-128"/>
                <a:ea typeface="游ゴシック" panose="020B0400000000000000" pitchFamily="50" charset="-128"/>
              </a:rPr>
              <a:t>AIに「迷い」と「誠実さ」を持たせる</a:t>
            </a:r>
            <a:endParaRPr sz="2000" b="1" dirty="0">
              <a:latin typeface="游ゴシック" panose="020B0400000000000000" pitchFamily="50" charset="-128"/>
              <a:ea typeface="游ゴシック" panose="020B0400000000000000" pitchFamily="50" charset="-128"/>
            </a:endParaRPr>
          </a:p>
          <a:p>
            <a:pPr lvl="1"/>
            <a:r>
              <a:rPr sz="1800" b="1" dirty="0" err="1">
                <a:latin typeface="游ゴシック" panose="020B0400000000000000" pitchFamily="50" charset="-128"/>
                <a:ea typeface="游ゴシック" panose="020B0400000000000000" pitchFamily="50" charset="-128"/>
              </a:rPr>
              <a:t>発生条件</a:t>
            </a:r>
            <a:r>
              <a:rPr sz="1800" dirty="0">
                <a:latin typeface="游ゴシック" panose="020B0400000000000000" pitchFamily="50" charset="-128"/>
                <a:ea typeface="游ゴシック" panose="020B0400000000000000" pitchFamily="50" charset="-128"/>
              </a:rPr>
              <a:t>: Top-Kの検索結果が複数の異なるクラスタに分裂し、単純に平均化するとどの意見にも属さない（曖昧な）回答になるリスクがある場合。</a:t>
            </a:r>
          </a:p>
          <a:p>
            <a:pPr lvl="1"/>
            <a:r>
              <a:rPr sz="1800" b="1" dirty="0" err="1">
                <a:latin typeface="游ゴシック" panose="020B0400000000000000" pitchFamily="50" charset="-128"/>
                <a:ea typeface="游ゴシック" panose="020B0400000000000000" pitchFamily="50" charset="-128"/>
              </a:rPr>
              <a:t>解決策（ミオ様メカニズム</a:t>
            </a:r>
            <a:r>
              <a:rPr sz="1800" b="1" dirty="0">
                <a:latin typeface="游ゴシック" panose="020B0400000000000000" pitchFamily="50" charset="-128"/>
                <a:ea typeface="游ゴシック" panose="020B0400000000000000" pitchFamily="50" charset="-128"/>
              </a:rPr>
              <a:t>）</a:t>
            </a:r>
            <a:r>
              <a:rPr sz="1800" dirty="0">
                <a:latin typeface="游ゴシック" panose="020B0400000000000000" pitchFamily="50" charset="-128"/>
                <a:ea typeface="游ゴシック" panose="020B0400000000000000" pitchFamily="50" charset="-128"/>
              </a:rPr>
              <a:t>:</a:t>
            </a:r>
          </a:p>
          <a:p>
            <a:pPr lvl="2"/>
            <a:r>
              <a:rPr sz="1600" dirty="0" err="1">
                <a:latin typeface="游ゴシック" panose="020B0400000000000000" pitchFamily="50" charset="-128"/>
                <a:ea typeface="游ゴシック" panose="020B0400000000000000" pitchFamily="50" charset="-128"/>
              </a:rPr>
              <a:t>クラスタ間距離（D_min）と重心からの距離（d_centroid）を計算</a:t>
            </a:r>
            <a:r>
              <a:rPr sz="1600" dirty="0">
                <a:latin typeface="游ゴシック" panose="020B0400000000000000" pitchFamily="50" charset="-128"/>
                <a:ea typeface="游ゴシック" panose="020B0400000000000000" pitchFamily="50" charset="-128"/>
              </a:rPr>
              <a:t>。</a:t>
            </a:r>
          </a:p>
          <a:p>
            <a:pPr lvl="2"/>
            <a:r>
              <a:rPr sz="1600" dirty="0" err="1">
                <a:latin typeface="游ゴシック" panose="020B0400000000000000" pitchFamily="50" charset="-128"/>
                <a:ea typeface="游ゴシック" panose="020B0400000000000000" pitchFamily="50" charset="-128"/>
              </a:rPr>
              <a:t>葛藤を検知した場合、無理に統合せず、対立点と共通点を整理</a:t>
            </a:r>
            <a:r>
              <a:rPr sz="1600" dirty="0">
                <a:latin typeface="游ゴシック" panose="020B0400000000000000" pitchFamily="50" charset="-128"/>
                <a:ea typeface="游ゴシック" panose="020B0400000000000000" pitchFamily="50" charset="-128"/>
              </a:rPr>
              <a:t>。</a:t>
            </a:r>
          </a:p>
          <a:p>
            <a:pPr lvl="2"/>
            <a:r>
              <a:rPr sz="1600" dirty="0" err="1">
                <a:latin typeface="游ゴシック" panose="020B0400000000000000" pitchFamily="50" charset="-128"/>
                <a:ea typeface="游ゴシック" panose="020B0400000000000000" pitchFamily="50" charset="-128"/>
              </a:rPr>
              <a:t>ユーザーに対して「意見が対立しています」と選択肢を提示する、透明性の高いUXを提供します</a:t>
            </a:r>
            <a:r>
              <a:rPr sz="1600" dirty="0">
                <a:latin typeface="游ゴシック" panose="020B0400000000000000" pitchFamily="50" charset="-128"/>
                <a:ea typeface="游ゴシック" panose="020B0400000000000000" pitchFamily="50" charset="-128"/>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1143000"/>
          </a:xfrm>
        </p:spPr>
        <p:txBody>
          <a:bodyPr/>
          <a:lstStyle/>
          <a:p>
            <a:pPr>
              <a:defRPr b="1">
                <a:solidFill>
                  <a:srgbClr val="003366"/>
                </a:solidFill>
              </a:defRPr>
            </a:pPr>
            <a:r>
              <a:rPr dirty="0">
                <a:latin typeface="游ゴシック" panose="020B0400000000000000" pitchFamily="50" charset="-128"/>
                <a:ea typeface="游ゴシック" panose="020B0400000000000000" pitchFamily="50" charset="-128"/>
              </a:rPr>
              <a:t>α</a:t>
            </a:r>
            <a:r>
              <a:rPr dirty="0" err="1">
                <a:latin typeface="游ゴシック" panose="020B0400000000000000" pitchFamily="50" charset="-128"/>
                <a:ea typeface="游ゴシック" panose="020B0400000000000000" pitchFamily="50" charset="-128"/>
              </a:rPr>
              <a:t>代謝（Metabolism</a:t>
            </a:r>
            <a:r>
              <a:rPr dirty="0">
                <a:latin typeface="游ゴシック" panose="020B0400000000000000" pitchFamily="50" charset="-128"/>
                <a:ea typeface="游ゴシック" panose="020B0400000000000000" pitchFamily="50" charset="-128"/>
              </a:rPr>
              <a:t>）</a:t>
            </a:r>
          </a:p>
        </p:txBody>
      </p:sp>
      <p:sp>
        <p:nvSpPr>
          <p:cNvPr id="3" name="Content Placeholder 2"/>
          <p:cNvSpPr>
            <a:spLocks noGrp="1"/>
          </p:cNvSpPr>
          <p:nvPr>
            <p:ph idx="1"/>
          </p:nvPr>
        </p:nvSpPr>
        <p:spPr>
          <a:xfrm>
            <a:off x="457200" y="1600200"/>
            <a:ext cx="11178988" cy="4525963"/>
          </a:xfrm>
        </p:spPr>
        <p:txBody>
          <a:bodyPr/>
          <a:lstStyle/>
          <a:p>
            <a:endParaRPr dirty="0">
              <a:latin typeface="游ゴシック" panose="020B0400000000000000" pitchFamily="50" charset="-128"/>
              <a:ea typeface="游ゴシック" panose="020B0400000000000000" pitchFamily="50" charset="-128"/>
            </a:endParaRPr>
          </a:p>
          <a:p>
            <a:r>
              <a:rPr sz="2000" b="1" dirty="0" err="1">
                <a:latin typeface="游ゴシック" panose="020B0400000000000000" pitchFamily="50" charset="-128"/>
                <a:ea typeface="游ゴシック" panose="020B0400000000000000" pitchFamily="50" charset="-128"/>
              </a:rPr>
              <a:t>記憶の生命力を管理するイベント駆動モデル</a:t>
            </a:r>
            <a:endParaRPr sz="2000" b="1" dirty="0">
              <a:latin typeface="游ゴシック" panose="020B0400000000000000" pitchFamily="50" charset="-128"/>
              <a:ea typeface="游ゴシック" panose="020B0400000000000000" pitchFamily="50" charset="-128"/>
            </a:endParaRPr>
          </a:p>
          <a:p>
            <a:pPr lvl="1"/>
            <a:r>
              <a:rPr sz="1800" b="1" dirty="0" err="1">
                <a:latin typeface="游ゴシック" panose="020B0400000000000000" pitchFamily="50" charset="-128"/>
                <a:ea typeface="游ゴシック" panose="020B0400000000000000" pitchFamily="50" charset="-128"/>
              </a:rPr>
              <a:t>基本思想</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AIに「時間」を与えるため、ユーザーの発話（ターン）をTick（時間の刻み）として扱います</a:t>
            </a:r>
            <a:r>
              <a:rPr sz="1800" dirty="0">
                <a:latin typeface="游ゴシック" panose="020B0400000000000000" pitchFamily="50" charset="-128"/>
                <a:ea typeface="游ゴシック" panose="020B0400000000000000" pitchFamily="50" charset="-128"/>
              </a:rPr>
              <a:t>。</a:t>
            </a:r>
          </a:p>
          <a:p>
            <a:pPr lvl="1"/>
            <a:r>
              <a:rPr sz="1800" b="1" dirty="0">
                <a:latin typeface="游ゴシック" panose="020B0400000000000000" pitchFamily="50" charset="-128"/>
                <a:ea typeface="游ゴシック" panose="020B0400000000000000" pitchFamily="50" charset="-128"/>
              </a:rPr>
              <a:t>O(1)</a:t>
            </a:r>
            <a:r>
              <a:rPr sz="1800" b="1" dirty="0" err="1">
                <a:latin typeface="游ゴシック" panose="020B0400000000000000" pitchFamily="50" charset="-128"/>
                <a:ea typeface="游ゴシック" panose="020B0400000000000000" pitchFamily="50" charset="-128"/>
              </a:rPr>
              <a:t>アーキテクチャ</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全キューブを毎ターン更新するのではなく</a:t>
            </a:r>
            <a:r>
              <a:rPr sz="1800" dirty="0">
                <a:latin typeface="游ゴシック" panose="020B0400000000000000" pitchFamily="50" charset="-128"/>
                <a:ea typeface="游ゴシック" panose="020B0400000000000000" pitchFamily="50" charset="-128"/>
              </a:rPr>
              <a:t>、`</a:t>
            </a:r>
            <a:r>
              <a:rPr sz="1800" dirty="0" err="1">
                <a:latin typeface="游ゴシック" panose="020B0400000000000000" pitchFamily="50" charset="-128"/>
                <a:ea typeface="游ゴシック" panose="020B0400000000000000" pitchFamily="50" charset="-128"/>
              </a:rPr>
              <a:t>global_turn</a:t>
            </a:r>
            <a:r>
              <a:rPr sz="1800" dirty="0">
                <a:latin typeface="游ゴシック" panose="020B0400000000000000" pitchFamily="50" charset="-128"/>
                <a:ea typeface="游ゴシック" panose="020B0400000000000000" pitchFamily="50" charset="-128"/>
              </a:rPr>
              <a:t>` と `</a:t>
            </a:r>
            <a:r>
              <a:rPr sz="1800" dirty="0" err="1">
                <a:latin typeface="游ゴシック" panose="020B0400000000000000" pitchFamily="50" charset="-128"/>
                <a:ea typeface="游ゴシック" panose="020B0400000000000000" pitchFamily="50" charset="-128"/>
              </a:rPr>
              <a:t>alpha_base</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を用いて、必要な時にのみ実効</a:t>
            </a:r>
            <a:r>
              <a:rPr sz="1800" dirty="0">
                <a:latin typeface="游ゴシック" panose="020B0400000000000000" pitchFamily="50" charset="-128"/>
                <a:ea typeface="游ゴシック" panose="020B0400000000000000" pitchFamily="50" charset="-128"/>
              </a:rPr>
              <a:t>α（記憶の強度）をオンデマンドで算出します。</a:t>
            </a:r>
          </a:p>
          <a:p>
            <a:pPr lvl="1"/>
            <a:r>
              <a:rPr sz="1800" b="1" dirty="0" err="1">
                <a:latin typeface="游ゴシック" panose="020B0400000000000000" pitchFamily="50" charset="-128"/>
                <a:ea typeface="游ゴシック" panose="020B0400000000000000" pitchFamily="50" charset="-128"/>
              </a:rPr>
              <a:t>イベントによる更新</a:t>
            </a:r>
            <a:r>
              <a:rPr sz="1800" dirty="0">
                <a:latin typeface="游ゴシック" panose="020B0400000000000000" pitchFamily="50" charset="-128"/>
                <a:ea typeface="游ゴシック" panose="020B0400000000000000" pitchFamily="50" charset="-128"/>
              </a:rPr>
              <a:t>:</a:t>
            </a:r>
          </a:p>
          <a:p>
            <a:pPr lvl="2"/>
            <a:r>
              <a:rPr sz="1600" dirty="0">
                <a:latin typeface="游ゴシック" panose="020B0400000000000000" pitchFamily="50" charset="-128"/>
                <a:ea typeface="游ゴシック" panose="020B0400000000000000" pitchFamily="50" charset="-128"/>
              </a:rPr>
              <a:t>直近5ターンの保護バリア</a:t>
            </a:r>
          </a:p>
          <a:p>
            <a:pPr lvl="2"/>
            <a:r>
              <a:rPr sz="1600" dirty="0" err="1">
                <a:latin typeface="游ゴシック" panose="020B0400000000000000" pitchFamily="50" charset="-128"/>
                <a:ea typeface="游ゴシック" panose="020B0400000000000000" pitchFamily="50" charset="-128"/>
              </a:rPr>
              <a:t>参照や類似による強化（若返り</a:t>
            </a:r>
            <a:r>
              <a:rPr sz="1600" dirty="0">
                <a:latin typeface="游ゴシック" panose="020B0400000000000000" pitchFamily="50" charset="-128"/>
                <a:ea typeface="游ゴシック" panose="020B0400000000000000" pitchFamily="50" charset="-128"/>
              </a:rPr>
              <a:t>）</a:t>
            </a:r>
          </a:p>
          <a:p>
            <a:pPr lvl="2"/>
            <a:r>
              <a:rPr sz="1600" dirty="0" err="1">
                <a:latin typeface="游ゴシック" panose="020B0400000000000000" pitchFamily="50" charset="-128"/>
                <a:ea typeface="游ゴシック" panose="020B0400000000000000" pitchFamily="50" charset="-128"/>
              </a:rPr>
              <a:t>デフラグ吸収による弱化</a:t>
            </a:r>
            <a:endParaRPr sz="1600" dirty="0">
              <a:latin typeface="游ゴシック" panose="020B0400000000000000" pitchFamily="50" charset="-128"/>
              <a:ea typeface="游ゴシック" panose="020B0400000000000000" pitchFamily="50" charset="-128"/>
            </a:endParaRPr>
          </a:p>
          <a:p>
            <a:pPr lvl="1"/>
            <a:r>
              <a:rPr sz="1800" b="1" dirty="0" err="1">
                <a:latin typeface="游ゴシック" panose="020B0400000000000000" pitchFamily="50" charset="-128"/>
                <a:ea typeface="游ゴシック" panose="020B0400000000000000" pitchFamily="50" charset="-128"/>
              </a:rPr>
              <a:t>効果</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古いノイズは自然に弱り、重要な記憶は強化される、生体に近い代謝を実現します</a:t>
            </a:r>
            <a:r>
              <a:rPr sz="1800" dirty="0">
                <a:latin typeface="游ゴシック" panose="020B0400000000000000" pitchFamily="50" charset="-128"/>
                <a:ea typeface="游ゴシック" panose="020B0400000000000000" pitchFamily="50" charset="-128"/>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0820400" cy="1143000"/>
          </a:xfrm>
        </p:spPr>
        <p:txBody>
          <a:bodyPr/>
          <a:lstStyle/>
          <a:p>
            <a:pPr>
              <a:defRPr b="1">
                <a:solidFill>
                  <a:srgbClr val="003366"/>
                </a:solidFill>
              </a:defRPr>
            </a:pPr>
            <a:r>
              <a:rPr dirty="0" err="1">
                <a:latin typeface="游ゴシック" panose="020B0400000000000000" pitchFamily="50" charset="-128"/>
                <a:ea typeface="游ゴシック" panose="020B0400000000000000" pitchFamily="50" charset="-128"/>
              </a:rPr>
              <a:t>デフラグ（Defrag</a:t>
            </a:r>
            <a:r>
              <a:rPr dirty="0">
                <a:latin typeface="游ゴシック" panose="020B0400000000000000" pitchFamily="50" charset="-128"/>
                <a:ea typeface="游ゴシック" panose="020B0400000000000000" pitchFamily="50" charset="-128"/>
              </a:rPr>
              <a:t>）</a:t>
            </a:r>
            <a:r>
              <a:rPr lang="ja-JP" altLang="en-US" dirty="0">
                <a:latin typeface="游ゴシック" panose="020B0400000000000000" pitchFamily="50" charset="-128"/>
                <a:ea typeface="游ゴシック" panose="020B0400000000000000" pitchFamily="50" charset="-128"/>
              </a:rPr>
              <a:t>記憶の整理</a:t>
            </a:r>
            <a:endParaRPr dirty="0">
              <a:latin typeface="游ゴシック" panose="020B0400000000000000" pitchFamily="50" charset="-128"/>
              <a:ea typeface="游ゴシック" panose="020B0400000000000000" pitchFamily="50" charset="-128"/>
            </a:endParaRPr>
          </a:p>
        </p:txBody>
      </p:sp>
      <p:sp>
        <p:nvSpPr>
          <p:cNvPr id="3" name="Content Placeholder 2"/>
          <p:cNvSpPr>
            <a:spLocks noGrp="1"/>
          </p:cNvSpPr>
          <p:nvPr>
            <p:ph idx="1"/>
          </p:nvPr>
        </p:nvSpPr>
        <p:spPr>
          <a:xfrm>
            <a:off x="457199" y="1600200"/>
            <a:ext cx="11268635" cy="4525963"/>
          </a:xfrm>
        </p:spPr>
        <p:txBody>
          <a:bodyPr/>
          <a:lstStyle/>
          <a:p>
            <a:endParaRPr dirty="0">
              <a:latin typeface="游ゴシック" panose="020B0400000000000000" pitchFamily="50" charset="-128"/>
              <a:ea typeface="游ゴシック" panose="020B0400000000000000" pitchFamily="50" charset="-128"/>
            </a:endParaRPr>
          </a:p>
          <a:p>
            <a:r>
              <a:rPr sz="2000" b="1" dirty="0" err="1">
                <a:latin typeface="游ゴシック" panose="020B0400000000000000" pitchFamily="50" charset="-128"/>
                <a:ea typeface="游ゴシック" panose="020B0400000000000000" pitchFamily="50" charset="-128"/>
              </a:rPr>
              <a:t>空間地形に基づく、自律的な記憶の整理整頓</a:t>
            </a:r>
            <a:endParaRPr sz="2000" b="1" dirty="0">
              <a:latin typeface="游ゴシック" panose="020B0400000000000000" pitchFamily="50" charset="-128"/>
              <a:ea typeface="游ゴシック" panose="020B0400000000000000" pitchFamily="50" charset="-128"/>
            </a:endParaRPr>
          </a:p>
          <a:p>
            <a:pPr lvl="1"/>
            <a:r>
              <a:rPr sz="1800" b="1" dirty="0" err="1">
                <a:latin typeface="游ゴシック" panose="020B0400000000000000" pitchFamily="50" charset="-128"/>
                <a:ea typeface="游ゴシック" panose="020B0400000000000000" pitchFamily="50" charset="-128"/>
              </a:rPr>
              <a:t>プロセス</a:t>
            </a:r>
            <a:r>
              <a:rPr sz="1800" dirty="0">
                <a:latin typeface="游ゴシック" panose="020B0400000000000000" pitchFamily="50" charset="-128"/>
                <a:ea typeface="游ゴシック" panose="020B0400000000000000" pitchFamily="50" charset="-128"/>
              </a:rPr>
              <a:t>:</a:t>
            </a:r>
          </a:p>
          <a:p>
            <a:pPr lvl="2"/>
            <a:r>
              <a:rPr sz="1600" dirty="0">
                <a:latin typeface="游ゴシック" panose="020B0400000000000000" pitchFamily="50" charset="-128"/>
                <a:ea typeface="游ゴシック" panose="020B0400000000000000" pitchFamily="50" charset="-128"/>
              </a:rPr>
              <a:t>1. </a:t>
            </a:r>
            <a:r>
              <a:rPr sz="1600" dirty="0" err="1">
                <a:latin typeface="游ゴシック" panose="020B0400000000000000" pitchFamily="50" charset="-128"/>
                <a:ea typeface="游ゴシック" panose="020B0400000000000000" pitchFamily="50" charset="-128"/>
              </a:rPr>
              <a:t>空間密度スキャンにより「濃い領域（ホットスポット</a:t>
            </a:r>
            <a:r>
              <a:rPr sz="1600" dirty="0">
                <a:latin typeface="游ゴシック" panose="020B0400000000000000" pitchFamily="50" charset="-128"/>
                <a:ea typeface="游ゴシック" panose="020B0400000000000000" pitchFamily="50" charset="-128"/>
              </a:rPr>
              <a:t>）」</a:t>
            </a:r>
            <a:r>
              <a:rPr sz="1600" dirty="0" err="1">
                <a:latin typeface="游ゴシック" panose="020B0400000000000000" pitchFamily="50" charset="-128"/>
                <a:ea typeface="游ゴシック" panose="020B0400000000000000" pitchFamily="50" charset="-128"/>
              </a:rPr>
              <a:t>を特定</a:t>
            </a:r>
            <a:r>
              <a:rPr sz="1600" dirty="0">
                <a:latin typeface="游ゴシック" panose="020B0400000000000000" pitchFamily="50" charset="-128"/>
                <a:ea typeface="游ゴシック" panose="020B0400000000000000" pitchFamily="50" charset="-128"/>
              </a:rPr>
              <a:t>。</a:t>
            </a:r>
          </a:p>
          <a:p>
            <a:pPr lvl="2"/>
            <a:r>
              <a:rPr sz="1600" dirty="0">
                <a:latin typeface="游ゴシック" panose="020B0400000000000000" pitchFamily="50" charset="-128"/>
                <a:ea typeface="游ゴシック" panose="020B0400000000000000" pitchFamily="50" charset="-128"/>
              </a:rPr>
              <a:t>2. </a:t>
            </a:r>
            <a:r>
              <a:rPr sz="1600" dirty="0" err="1">
                <a:latin typeface="游ゴシック" panose="020B0400000000000000" pitchFamily="50" charset="-128"/>
                <a:ea typeface="游ゴシック" panose="020B0400000000000000" pitchFamily="50" charset="-128"/>
              </a:rPr>
              <a:t>実効</a:t>
            </a:r>
            <a:r>
              <a:rPr sz="1600" dirty="0">
                <a:latin typeface="游ゴシック" panose="020B0400000000000000" pitchFamily="50" charset="-128"/>
                <a:ea typeface="游ゴシック" panose="020B0400000000000000" pitchFamily="50" charset="-128"/>
              </a:rPr>
              <a:t>αの低い（忘れられかけている）キューブをシードとして抽出。</a:t>
            </a:r>
          </a:p>
          <a:p>
            <a:pPr lvl="2"/>
            <a:r>
              <a:rPr sz="1600" dirty="0">
                <a:latin typeface="游ゴシック" panose="020B0400000000000000" pitchFamily="50" charset="-128"/>
                <a:ea typeface="游ゴシック" panose="020B0400000000000000" pitchFamily="50" charset="-128"/>
              </a:rPr>
              <a:t>3. </a:t>
            </a:r>
            <a:r>
              <a:rPr sz="1600" dirty="0" err="1">
                <a:latin typeface="游ゴシック" panose="020B0400000000000000" pitchFamily="50" charset="-128"/>
                <a:ea typeface="游ゴシック" panose="020B0400000000000000" pitchFamily="50" charset="-128"/>
              </a:rPr>
              <a:t>MiniCube（語義DNA）と方位を用いて厳密なハイブリッドクラスタを形成</a:t>
            </a:r>
            <a:r>
              <a:rPr sz="1600" dirty="0">
                <a:latin typeface="游ゴシック" panose="020B0400000000000000" pitchFamily="50" charset="-128"/>
                <a:ea typeface="游ゴシック" panose="020B0400000000000000" pitchFamily="50" charset="-128"/>
              </a:rPr>
              <a:t>。</a:t>
            </a:r>
          </a:p>
          <a:p>
            <a:pPr lvl="2"/>
            <a:r>
              <a:rPr sz="1600" dirty="0">
                <a:latin typeface="游ゴシック" panose="020B0400000000000000" pitchFamily="50" charset="-128"/>
                <a:ea typeface="游ゴシック" panose="020B0400000000000000" pitchFamily="50" charset="-128"/>
              </a:rPr>
              <a:t>4. </a:t>
            </a:r>
            <a:r>
              <a:rPr sz="1600" dirty="0" err="1">
                <a:latin typeface="游ゴシック" panose="020B0400000000000000" pitchFamily="50" charset="-128"/>
                <a:ea typeface="游ゴシック" panose="020B0400000000000000" pitchFamily="50" charset="-128"/>
              </a:rPr>
              <a:t>LLMを用いて、ポエム化を排除した高品質なOrigin（統合要約）を生成</a:t>
            </a:r>
            <a:r>
              <a:rPr sz="1600" dirty="0">
                <a:latin typeface="游ゴシック" panose="020B0400000000000000" pitchFamily="50" charset="-128"/>
                <a:ea typeface="游ゴシック" panose="020B0400000000000000" pitchFamily="50" charset="-128"/>
              </a:rPr>
              <a:t>。</a:t>
            </a:r>
          </a:p>
          <a:p>
            <a:pPr lvl="2"/>
            <a:r>
              <a:rPr sz="1600" dirty="0">
                <a:latin typeface="游ゴシック" panose="020B0400000000000000" pitchFamily="50" charset="-128"/>
                <a:ea typeface="游ゴシック" panose="020B0400000000000000" pitchFamily="50" charset="-128"/>
              </a:rPr>
              <a:t>5. </a:t>
            </a:r>
            <a:r>
              <a:rPr sz="1600" dirty="0" err="1">
                <a:latin typeface="游ゴシック" panose="020B0400000000000000" pitchFamily="50" charset="-128"/>
                <a:ea typeface="游ゴシック" panose="020B0400000000000000" pitchFamily="50" charset="-128"/>
              </a:rPr>
              <a:t>吸収された古いキューブは弱化され、GCフェーズへ移行</a:t>
            </a:r>
            <a:r>
              <a:rPr sz="1600" dirty="0">
                <a:latin typeface="游ゴシック" panose="020B0400000000000000" pitchFamily="50" charset="-128"/>
                <a:ea typeface="游ゴシック" panose="020B0400000000000000" pitchFamily="50" charset="-128"/>
              </a:rPr>
              <a:t>。</a:t>
            </a:r>
          </a:p>
          <a:p>
            <a:pPr lvl="1"/>
            <a:r>
              <a:rPr sz="1800" b="1" dirty="0" err="1">
                <a:latin typeface="游ゴシック" panose="020B0400000000000000" pitchFamily="50" charset="-128"/>
                <a:ea typeface="游ゴシック" panose="020B0400000000000000" pitchFamily="50" charset="-128"/>
              </a:rPr>
              <a:t>特徴</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Top-Kに依存せず、部屋の隅のホコリから順に掃除を行う、極めて健全な記憶の再構築プロセスです</a:t>
            </a:r>
            <a:r>
              <a:rPr sz="1800" dirty="0">
                <a:latin typeface="游ゴシック" panose="020B0400000000000000" pitchFamily="50" charset="-128"/>
                <a:ea typeface="游ゴシック" panose="020B0400000000000000" pitchFamily="50" charset="-128"/>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7553" y="274638"/>
            <a:ext cx="11349318" cy="1143000"/>
          </a:xfrm>
        </p:spPr>
        <p:txBody>
          <a:bodyPr/>
          <a:lstStyle/>
          <a:p>
            <a:pPr>
              <a:defRPr b="1">
                <a:solidFill>
                  <a:srgbClr val="003366"/>
                </a:solidFill>
              </a:defRPr>
            </a:pPr>
            <a:r>
              <a:rPr dirty="0" err="1">
                <a:latin typeface="游ゴシック" panose="020B0400000000000000" pitchFamily="50" charset="-128"/>
                <a:ea typeface="游ゴシック" panose="020B0400000000000000" pitchFamily="50" charset="-128"/>
              </a:rPr>
              <a:t>GC（ガベージコレクション</a:t>
            </a:r>
            <a:r>
              <a:rPr dirty="0">
                <a:latin typeface="游ゴシック" panose="020B0400000000000000" pitchFamily="50" charset="-128"/>
                <a:ea typeface="游ゴシック" panose="020B0400000000000000" pitchFamily="50" charset="-128"/>
              </a:rPr>
              <a:t>）</a:t>
            </a:r>
            <a:r>
              <a:rPr lang="ja-JP" altLang="en-US" dirty="0">
                <a:latin typeface="游ゴシック" panose="020B0400000000000000" pitchFamily="50" charset="-128"/>
                <a:ea typeface="游ゴシック" panose="020B0400000000000000" pitchFamily="50" charset="-128"/>
              </a:rPr>
              <a:t>記憶の整理</a:t>
            </a:r>
            <a:endParaRPr dirty="0">
              <a:latin typeface="游ゴシック" panose="020B0400000000000000" pitchFamily="50" charset="-128"/>
              <a:ea typeface="游ゴシック" panose="020B0400000000000000" pitchFamily="50" charset="-128"/>
            </a:endParaRPr>
          </a:p>
        </p:txBody>
      </p:sp>
      <p:sp>
        <p:nvSpPr>
          <p:cNvPr id="3" name="Content Placeholder 2"/>
          <p:cNvSpPr>
            <a:spLocks noGrp="1"/>
          </p:cNvSpPr>
          <p:nvPr>
            <p:ph idx="1"/>
          </p:nvPr>
        </p:nvSpPr>
        <p:spPr>
          <a:xfrm>
            <a:off x="457199" y="1600200"/>
            <a:ext cx="11259671" cy="4525963"/>
          </a:xfrm>
        </p:spPr>
        <p:txBody>
          <a:bodyPr/>
          <a:lstStyle/>
          <a:p>
            <a:endParaRPr dirty="0">
              <a:latin typeface="游ゴシック" panose="020B0400000000000000" pitchFamily="50" charset="-128"/>
              <a:ea typeface="游ゴシック" panose="020B0400000000000000" pitchFamily="50" charset="-128"/>
            </a:endParaRPr>
          </a:p>
          <a:p>
            <a:r>
              <a:rPr sz="2000" b="1" dirty="0" err="1">
                <a:latin typeface="游ゴシック" panose="020B0400000000000000" pitchFamily="50" charset="-128"/>
                <a:ea typeface="游ゴシック" panose="020B0400000000000000" pitchFamily="50" charset="-128"/>
              </a:rPr>
              <a:t>安全で監査可能な「忘却」のライフサイクル</a:t>
            </a:r>
            <a:endParaRPr sz="2000" b="1" dirty="0">
              <a:latin typeface="游ゴシック" panose="020B0400000000000000" pitchFamily="50" charset="-128"/>
              <a:ea typeface="游ゴシック" panose="020B0400000000000000" pitchFamily="50" charset="-128"/>
            </a:endParaRPr>
          </a:p>
          <a:p>
            <a:pPr lvl="1"/>
            <a:r>
              <a:rPr sz="1800" b="1" dirty="0" err="1">
                <a:latin typeface="游ゴシック" panose="020B0400000000000000" pitchFamily="50" charset="-128"/>
                <a:ea typeface="游ゴシック" panose="020B0400000000000000" pitchFamily="50" charset="-128"/>
              </a:rPr>
              <a:t>段階的ライフサイクル</a:t>
            </a:r>
            <a:r>
              <a:rPr sz="1800" dirty="0">
                <a:latin typeface="游ゴシック" panose="020B0400000000000000" pitchFamily="50" charset="-128"/>
                <a:ea typeface="游ゴシック" panose="020B0400000000000000" pitchFamily="50" charset="-128"/>
              </a:rPr>
              <a:t>:</a:t>
            </a:r>
          </a:p>
          <a:p>
            <a:pPr lvl="2"/>
            <a:r>
              <a:rPr sz="1600" b="1" dirty="0" err="1">
                <a:latin typeface="游ゴシック" panose="020B0400000000000000" pitchFamily="50" charset="-128"/>
                <a:ea typeface="游ゴシック" panose="020B0400000000000000" pitchFamily="50" charset="-128"/>
              </a:rPr>
              <a:t>フェーズA（弱化</a:t>
            </a:r>
            <a:r>
              <a:rPr sz="1600" b="1" dirty="0">
                <a:latin typeface="游ゴシック" panose="020B0400000000000000" pitchFamily="50" charset="-128"/>
                <a:ea typeface="游ゴシック" panose="020B0400000000000000" pitchFamily="50" charset="-128"/>
              </a:rPr>
              <a:t>）</a:t>
            </a:r>
            <a:r>
              <a:rPr sz="1600" dirty="0">
                <a:latin typeface="游ゴシック" panose="020B0400000000000000" pitchFamily="50" charset="-128"/>
                <a:ea typeface="游ゴシック" panose="020B0400000000000000" pitchFamily="50" charset="-128"/>
              </a:rPr>
              <a:t>: </a:t>
            </a:r>
            <a:r>
              <a:rPr sz="1600" dirty="0" err="1">
                <a:latin typeface="游ゴシック" panose="020B0400000000000000" pitchFamily="50" charset="-128"/>
                <a:ea typeface="游ゴシック" panose="020B0400000000000000" pitchFamily="50" charset="-128"/>
              </a:rPr>
              <a:t>デフラグ後、検索優先度が低下</a:t>
            </a:r>
            <a:r>
              <a:rPr sz="1600" dirty="0">
                <a:latin typeface="游ゴシック" panose="020B0400000000000000" pitchFamily="50" charset="-128"/>
                <a:ea typeface="游ゴシック" panose="020B0400000000000000" pitchFamily="50" charset="-128"/>
              </a:rPr>
              <a:t>。</a:t>
            </a:r>
          </a:p>
          <a:p>
            <a:pPr lvl="2"/>
            <a:r>
              <a:rPr sz="1600" b="1" dirty="0" err="1">
                <a:latin typeface="游ゴシック" panose="020B0400000000000000" pitchFamily="50" charset="-128"/>
                <a:ea typeface="游ゴシック" panose="020B0400000000000000" pitchFamily="50" charset="-128"/>
              </a:rPr>
              <a:t>フェーズB（論理GC・アーカイブ</a:t>
            </a:r>
            <a:r>
              <a:rPr sz="1600" b="1" dirty="0">
                <a:latin typeface="游ゴシック" panose="020B0400000000000000" pitchFamily="50" charset="-128"/>
                <a:ea typeface="游ゴシック" panose="020B0400000000000000" pitchFamily="50" charset="-128"/>
              </a:rPr>
              <a:t>）</a:t>
            </a:r>
            <a:r>
              <a:rPr sz="1600" dirty="0">
                <a:latin typeface="游ゴシック" panose="020B0400000000000000" pitchFamily="50" charset="-128"/>
                <a:ea typeface="游ゴシック" panose="020B0400000000000000" pitchFamily="50" charset="-128"/>
              </a:rPr>
              <a:t>: </a:t>
            </a:r>
            <a:r>
              <a:rPr sz="1600" dirty="0" err="1">
                <a:latin typeface="游ゴシック" panose="020B0400000000000000" pitchFamily="50" charset="-128"/>
                <a:ea typeface="游ゴシック" panose="020B0400000000000000" pitchFamily="50" charset="-128"/>
              </a:rPr>
              <a:t>実効</a:t>
            </a:r>
            <a:r>
              <a:rPr sz="1600" dirty="0">
                <a:latin typeface="游ゴシック" panose="020B0400000000000000" pitchFamily="50" charset="-128"/>
                <a:ea typeface="游ゴシック" panose="020B0400000000000000" pitchFamily="50" charset="-128"/>
              </a:rPr>
              <a:t>αが閾値を下回った場合、物理削除はせず `is_archived = True` として非表示化。</a:t>
            </a:r>
          </a:p>
          <a:p>
            <a:pPr lvl="2"/>
            <a:r>
              <a:rPr sz="1600" b="1" dirty="0" err="1">
                <a:latin typeface="游ゴシック" panose="020B0400000000000000" pitchFamily="50" charset="-128"/>
                <a:ea typeface="游ゴシック" panose="020B0400000000000000" pitchFamily="50" charset="-128"/>
              </a:rPr>
              <a:t>フェーズC（最終削除</a:t>
            </a:r>
            <a:r>
              <a:rPr sz="1600" b="1" dirty="0">
                <a:latin typeface="游ゴシック" panose="020B0400000000000000" pitchFamily="50" charset="-128"/>
                <a:ea typeface="游ゴシック" panose="020B0400000000000000" pitchFamily="50" charset="-128"/>
              </a:rPr>
              <a:t>）</a:t>
            </a:r>
            <a:r>
              <a:rPr sz="1600" dirty="0">
                <a:latin typeface="游ゴシック" panose="020B0400000000000000" pitchFamily="50" charset="-128"/>
                <a:ea typeface="游ゴシック" panose="020B0400000000000000" pitchFamily="50" charset="-128"/>
              </a:rPr>
              <a:t>: </a:t>
            </a:r>
            <a:r>
              <a:rPr sz="1600" dirty="0" err="1">
                <a:latin typeface="游ゴシック" panose="020B0400000000000000" pitchFamily="50" charset="-128"/>
                <a:ea typeface="游ゴシック" panose="020B0400000000000000" pitchFamily="50" charset="-128"/>
              </a:rPr>
              <a:t>監査保持期間経過後、WORMストレージ等への退避を経て物理削除</a:t>
            </a:r>
            <a:r>
              <a:rPr sz="1600" dirty="0">
                <a:latin typeface="游ゴシック" panose="020B0400000000000000" pitchFamily="50" charset="-128"/>
                <a:ea typeface="游ゴシック" panose="020B0400000000000000" pitchFamily="50" charset="-128"/>
              </a:rPr>
              <a:t>。</a:t>
            </a:r>
          </a:p>
          <a:p>
            <a:pPr lvl="1"/>
            <a:r>
              <a:rPr sz="1800" b="1" dirty="0" err="1">
                <a:latin typeface="游ゴシック" panose="020B0400000000000000" pitchFamily="50" charset="-128"/>
                <a:ea typeface="游ゴシック" panose="020B0400000000000000" pitchFamily="50" charset="-128"/>
              </a:rPr>
              <a:t>意義</a:t>
            </a:r>
            <a:r>
              <a:rPr sz="1800" dirty="0">
                <a:latin typeface="游ゴシック" panose="020B0400000000000000" pitchFamily="50" charset="-128"/>
                <a:ea typeface="游ゴシック" panose="020B0400000000000000" pitchFamily="50" charset="-128"/>
              </a:rPr>
              <a:t>: AIの判断の根拠（1:nのハッシュリンク）を永続的に残し、企業利用におけるコンプライアンスと説明責任（アカウンタビリティ）を担保します。</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11035553" cy="1143000"/>
          </a:xfrm>
        </p:spPr>
        <p:txBody>
          <a:bodyPr/>
          <a:lstStyle/>
          <a:p>
            <a:pPr>
              <a:defRPr b="1">
                <a:solidFill>
                  <a:srgbClr val="003366"/>
                </a:solidFill>
              </a:defRPr>
            </a:pPr>
            <a:r>
              <a:rPr dirty="0" err="1">
                <a:latin typeface="游ゴシック" panose="020B0400000000000000" pitchFamily="50" charset="-128"/>
                <a:ea typeface="游ゴシック" panose="020B0400000000000000" pitchFamily="50" charset="-128"/>
              </a:rPr>
              <a:t>話題の原子性（Atomic</a:t>
            </a:r>
            <a:r>
              <a:rPr dirty="0">
                <a:latin typeface="游ゴシック" panose="020B0400000000000000" pitchFamily="50" charset="-128"/>
                <a:ea typeface="游ゴシック" panose="020B0400000000000000" pitchFamily="50" charset="-128"/>
              </a:rPr>
              <a:t> Topic Shift）</a:t>
            </a:r>
          </a:p>
        </p:txBody>
      </p:sp>
      <p:sp>
        <p:nvSpPr>
          <p:cNvPr id="3" name="Content Placeholder 2"/>
          <p:cNvSpPr>
            <a:spLocks noGrp="1"/>
          </p:cNvSpPr>
          <p:nvPr>
            <p:ph idx="1"/>
          </p:nvPr>
        </p:nvSpPr>
        <p:spPr>
          <a:xfrm>
            <a:off x="457199" y="1600200"/>
            <a:ext cx="11214847" cy="4525963"/>
          </a:xfrm>
        </p:spPr>
        <p:txBody>
          <a:bodyPr/>
          <a:lstStyle/>
          <a:p>
            <a:endParaRPr dirty="0">
              <a:latin typeface="游ゴシック" panose="020B0400000000000000" pitchFamily="50" charset="-128"/>
              <a:ea typeface="游ゴシック" panose="020B0400000000000000" pitchFamily="50" charset="-128"/>
            </a:endParaRPr>
          </a:p>
          <a:p>
            <a:r>
              <a:rPr sz="2000" b="1" dirty="0">
                <a:latin typeface="游ゴシック" panose="020B0400000000000000" pitchFamily="50" charset="-128"/>
                <a:ea typeface="游ゴシック" panose="020B0400000000000000" pitchFamily="50" charset="-128"/>
              </a:rPr>
              <a:t>「</a:t>
            </a:r>
            <a:r>
              <a:rPr sz="2000" b="1" dirty="0" err="1">
                <a:latin typeface="游ゴシック" panose="020B0400000000000000" pitchFamily="50" charset="-128"/>
                <a:ea typeface="游ゴシック" panose="020B0400000000000000" pitchFamily="50" charset="-128"/>
              </a:rPr>
              <a:t>論点の転換」を数学的に検知する</a:t>
            </a:r>
            <a:endParaRPr sz="2000" b="1" dirty="0">
              <a:latin typeface="游ゴシック" panose="020B0400000000000000" pitchFamily="50" charset="-128"/>
              <a:ea typeface="游ゴシック" panose="020B0400000000000000" pitchFamily="50" charset="-128"/>
            </a:endParaRPr>
          </a:p>
          <a:p>
            <a:pPr lvl="1"/>
            <a:r>
              <a:rPr sz="1800" b="1" dirty="0" err="1">
                <a:latin typeface="游ゴシック" panose="020B0400000000000000" pitchFamily="50" charset="-128"/>
                <a:ea typeface="游ゴシック" panose="020B0400000000000000" pitchFamily="50" charset="-128"/>
              </a:rPr>
              <a:t>フローティングバレル・モデル</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前回と今回のデフラグ時の「Previous重心」と「Origin重心」の差分から、話題の「進行ベクトル（V_old</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V_new</a:t>
            </a:r>
            <a:r>
              <a:rPr sz="1800" dirty="0">
                <a:latin typeface="游ゴシック" panose="020B0400000000000000" pitchFamily="50" charset="-128"/>
                <a:ea typeface="游ゴシック" panose="020B0400000000000000" pitchFamily="50" charset="-128"/>
              </a:rPr>
              <a:t>）」</a:t>
            </a:r>
            <a:r>
              <a:rPr sz="1800" dirty="0" err="1">
                <a:latin typeface="游ゴシック" panose="020B0400000000000000" pitchFamily="50" charset="-128"/>
                <a:ea typeface="游ゴシック" panose="020B0400000000000000" pitchFamily="50" charset="-128"/>
              </a:rPr>
              <a:t>を算出します</a:t>
            </a:r>
            <a:r>
              <a:rPr sz="1800" dirty="0">
                <a:latin typeface="游ゴシック" panose="020B0400000000000000" pitchFamily="50" charset="-128"/>
                <a:ea typeface="游ゴシック" panose="020B0400000000000000" pitchFamily="50" charset="-128"/>
              </a:rPr>
              <a:t>。</a:t>
            </a:r>
          </a:p>
          <a:p>
            <a:pPr lvl="1"/>
            <a:r>
              <a:rPr sz="1800" b="1" dirty="0" err="1">
                <a:latin typeface="游ゴシック" panose="020B0400000000000000" pitchFamily="50" charset="-128"/>
                <a:ea typeface="游ゴシック" panose="020B0400000000000000" pitchFamily="50" charset="-128"/>
              </a:rPr>
              <a:t>判定指標</a:t>
            </a:r>
            <a:r>
              <a:rPr sz="1800" dirty="0">
                <a:latin typeface="游ゴシック" panose="020B0400000000000000" pitchFamily="50" charset="-128"/>
                <a:ea typeface="游ゴシック" panose="020B0400000000000000" pitchFamily="50" charset="-128"/>
              </a:rPr>
              <a:t>:</a:t>
            </a:r>
          </a:p>
          <a:p>
            <a:pPr lvl="2"/>
            <a:r>
              <a:rPr sz="1600" dirty="0" err="1">
                <a:latin typeface="游ゴシック" panose="020B0400000000000000" pitchFamily="50" charset="-128"/>
                <a:ea typeface="游ゴシック" panose="020B0400000000000000" pitchFamily="50" charset="-128"/>
              </a:rPr>
              <a:t>方向類似度（sV</a:t>
            </a:r>
            <a:r>
              <a:rPr sz="1600" dirty="0">
                <a:latin typeface="游ゴシック" panose="020B0400000000000000" pitchFamily="50" charset="-128"/>
                <a:ea typeface="游ゴシック" panose="020B0400000000000000" pitchFamily="50" charset="-128"/>
              </a:rPr>
              <a:t>）</a:t>
            </a:r>
          </a:p>
          <a:p>
            <a:pPr lvl="2"/>
            <a:r>
              <a:rPr sz="1600" dirty="0" err="1">
                <a:latin typeface="游ゴシック" panose="020B0400000000000000" pitchFamily="50" charset="-128"/>
                <a:ea typeface="游ゴシック" panose="020B0400000000000000" pitchFamily="50" charset="-128"/>
              </a:rPr>
              <a:t>重心類似度（sG</a:t>
            </a:r>
            <a:r>
              <a:rPr sz="1600" dirty="0">
                <a:latin typeface="游ゴシック" panose="020B0400000000000000" pitchFamily="50" charset="-128"/>
                <a:ea typeface="游ゴシック" panose="020B0400000000000000" pitchFamily="50" charset="-128"/>
              </a:rPr>
              <a:t>）</a:t>
            </a:r>
          </a:p>
          <a:p>
            <a:pPr lvl="2"/>
            <a:r>
              <a:rPr sz="1600" dirty="0" err="1">
                <a:latin typeface="游ゴシック" panose="020B0400000000000000" pitchFamily="50" charset="-128"/>
                <a:ea typeface="游ゴシック" panose="020B0400000000000000" pitchFamily="50" charset="-128"/>
              </a:rPr>
              <a:t>語義DNA保持率（rM</a:t>
            </a:r>
            <a:r>
              <a:rPr sz="1600" dirty="0">
                <a:latin typeface="游ゴシック" panose="020B0400000000000000" pitchFamily="50" charset="-128"/>
                <a:ea typeface="游ゴシック" panose="020B0400000000000000" pitchFamily="50" charset="-128"/>
              </a:rPr>
              <a:t>: </a:t>
            </a:r>
            <a:r>
              <a:rPr sz="1600" dirty="0" err="1">
                <a:latin typeface="游ゴシック" panose="020B0400000000000000" pitchFamily="50" charset="-128"/>
                <a:ea typeface="游ゴシック" panose="020B0400000000000000" pitchFamily="50" charset="-128"/>
              </a:rPr>
              <a:t>MiniCube</a:t>
            </a:r>
            <a:r>
              <a:rPr sz="1600" dirty="0">
                <a:latin typeface="游ゴシック" panose="020B0400000000000000" pitchFamily="50" charset="-128"/>
                <a:ea typeface="游ゴシック" panose="020B0400000000000000" pitchFamily="50" charset="-128"/>
              </a:rPr>
              <a:t> Jaccard）</a:t>
            </a:r>
          </a:p>
          <a:p>
            <a:pPr lvl="1"/>
            <a:r>
              <a:rPr sz="1800" b="1" dirty="0" err="1">
                <a:latin typeface="游ゴシック" panose="020B0400000000000000" pitchFamily="50" charset="-128"/>
                <a:ea typeface="游ゴシック" panose="020B0400000000000000" pitchFamily="50" charset="-128"/>
              </a:rPr>
              <a:t>効果</a:t>
            </a:r>
            <a:r>
              <a:rPr sz="1800" dirty="0">
                <a:latin typeface="游ゴシック" panose="020B0400000000000000" pitchFamily="50" charset="-128"/>
                <a:ea typeface="游ゴシック" panose="020B0400000000000000" pitchFamily="50" charset="-128"/>
              </a:rPr>
              <a:t>: 「同じ単語を使っているが、論点（ベクトルの向き）が鋭角に変わった」瞬間を検知し、エコーインサイト（AIからの高度なツッコミや気付き）のトリガーとします。</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7412" y="274638"/>
            <a:ext cx="8229600" cy="1143000"/>
          </a:xfrm>
        </p:spPr>
        <p:txBody>
          <a:bodyPr/>
          <a:lstStyle/>
          <a:p>
            <a:pPr>
              <a:defRPr b="1">
                <a:solidFill>
                  <a:srgbClr val="003366"/>
                </a:solidFill>
              </a:defRPr>
            </a:pPr>
            <a:r>
              <a:rPr dirty="0" err="1">
                <a:latin typeface="游ゴシック" panose="020B0400000000000000" pitchFamily="50" charset="-128"/>
                <a:ea typeface="游ゴシック" panose="020B0400000000000000" pitchFamily="50" charset="-128"/>
              </a:rPr>
              <a:t>デュアルエンジン構成</a:t>
            </a:r>
            <a:endParaRPr dirty="0">
              <a:latin typeface="游ゴシック" panose="020B0400000000000000" pitchFamily="50" charset="-128"/>
              <a:ea typeface="游ゴシック" panose="020B0400000000000000" pitchFamily="50" charset="-128"/>
            </a:endParaRPr>
          </a:p>
        </p:txBody>
      </p:sp>
      <p:sp>
        <p:nvSpPr>
          <p:cNvPr id="3" name="Content Placeholder 2"/>
          <p:cNvSpPr>
            <a:spLocks noGrp="1"/>
          </p:cNvSpPr>
          <p:nvPr>
            <p:ph idx="1"/>
          </p:nvPr>
        </p:nvSpPr>
        <p:spPr>
          <a:xfrm>
            <a:off x="457200" y="1600200"/>
            <a:ext cx="11170024" cy="4525963"/>
          </a:xfrm>
        </p:spPr>
        <p:txBody>
          <a:bodyPr/>
          <a:lstStyle/>
          <a:p>
            <a:endParaRPr dirty="0">
              <a:latin typeface="游ゴシック" panose="020B0400000000000000" pitchFamily="50" charset="-128"/>
              <a:ea typeface="游ゴシック" panose="020B0400000000000000" pitchFamily="50" charset="-128"/>
            </a:endParaRPr>
          </a:p>
          <a:p>
            <a:r>
              <a:rPr sz="2000" b="1" dirty="0" err="1">
                <a:latin typeface="游ゴシック" panose="020B0400000000000000" pitchFamily="50" charset="-128"/>
                <a:ea typeface="游ゴシック" panose="020B0400000000000000" pitchFamily="50" charset="-128"/>
              </a:rPr>
              <a:t>知覚と推論の役割分担</a:t>
            </a:r>
            <a:endParaRPr sz="2000" b="1" dirty="0">
              <a:latin typeface="游ゴシック" panose="020B0400000000000000" pitchFamily="50" charset="-128"/>
              <a:ea typeface="游ゴシック" panose="020B0400000000000000" pitchFamily="50" charset="-128"/>
            </a:endParaRPr>
          </a:p>
          <a:p>
            <a:pPr lvl="1"/>
            <a:r>
              <a:rPr sz="1800" b="1" dirty="0">
                <a:latin typeface="游ゴシック" panose="020B0400000000000000" pitchFamily="50" charset="-128"/>
                <a:ea typeface="游ゴシック" panose="020B0400000000000000" pitchFamily="50" charset="-128"/>
              </a:rPr>
              <a:t>第2世代エンジン（知覚）</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既存のLLM。自然言語の解釈、要約、正規化、およびキューブ（語義DNAとベクトル）の生成を担当します</a:t>
            </a:r>
            <a:r>
              <a:rPr sz="1800" dirty="0">
                <a:latin typeface="游ゴシック" panose="020B0400000000000000" pitchFamily="50" charset="-128"/>
                <a:ea typeface="游ゴシック" panose="020B0400000000000000" pitchFamily="50" charset="-128"/>
              </a:rPr>
              <a:t>。</a:t>
            </a:r>
          </a:p>
          <a:p>
            <a:pPr lvl="1"/>
            <a:r>
              <a:rPr sz="1800" b="1" dirty="0">
                <a:latin typeface="游ゴシック" panose="020B0400000000000000" pitchFamily="50" charset="-128"/>
                <a:ea typeface="游ゴシック" panose="020B0400000000000000" pitchFamily="50" charset="-128"/>
              </a:rPr>
              <a:t>第3世代エンジン（思考）</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本アーキテクチャのコア。ベクトル空間での推論、引力マップの計算、葛藤検知、クラスタリングを実行します</a:t>
            </a:r>
            <a:r>
              <a:rPr sz="1800" dirty="0">
                <a:latin typeface="游ゴシック" panose="020B0400000000000000" pitchFamily="50" charset="-128"/>
                <a:ea typeface="游ゴシック" panose="020B0400000000000000" pitchFamily="50" charset="-128"/>
              </a:rPr>
              <a:t>。</a:t>
            </a:r>
          </a:p>
          <a:p>
            <a:pPr lvl="1"/>
            <a:r>
              <a:rPr sz="1800" b="1" dirty="0" err="1">
                <a:latin typeface="游ゴシック" panose="020B0400000000000000" pitchFamily="50" charset="-128"/>
                <a:ea typeface="游ゴシック" panose="020B0400000000000000" pitchFamily="50" charset="-128"/>
              </a:rPr>
              <a:t>接続</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両者はKVキャッシュハブを通じて疎結合に連携し、LLMを単なるテキストジェネレータから「思考エンジン」へと再定義します</a:t>
            </a:r>
            <a:r>
              <a:rPr sz="1800" dirty="0">
                <a:latin typeface="游ゴシック" panose="020B0400000000000000" pitchFamily="50" charset="-128"/>
                <a:ea typeface="游ゴシック" panose="020B0400000000000000" pitchFamily="50" charset="-128"/>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1143000"/>
          </a:xfrm>
        </p:spPr>
        <p:txBody>
          <a:bodyPr/>
          <a:lstStyle/>
          <a:p>
            <a:pPr>
              <a:defRPr b="1">
                <a:solidFill>
                  <a:srgbClr val="003366"/>
                </a:solidFill>
              </a:defRPr>
            </a:pPr>
            <a:r>
              <a:rPr dirty="0" err="1">
                <a:latin typeface="游ゴシック" panose="020B0400000000000000" pitchFamily="50" charset="-128"/>
                <a:ea typeface="游ゴシック" panose="020B0400000000000000" pitchFamily="50" charset="-128"/>
              </a:rPr>
              <a:t>KVキャッシュハブ</a:t>
            </a:r>
            <a:endParaRPr dirty="0">
              <a:latin typeface="游ゴシック" panose="020B0400000000000000" pitchFamily="50" charset="-128"/>
              <a:ea typeface="游ゴシック" panose="020B0400000000000000" pitchFamily="50" charset="-128"/>
            </a:endParaRPr>
          </a:p>
        </p:txBody>
      </p:sp>
      <p:sp>
        <p:nvSpPr>
          <p:cNvPr id="3" name="Content Placeholder 2"/>
          <p:cNvSpPr>
            <a:spLocks noGrp="1"/>
          </p:cNvSpPr>
          <p:nvPr>
            <p:ph idx="1"/>
          </p:nvPr>
        </p:nvSpPr>
        <p:spPr>
          <a:xfrm>
            <a:off x="457200" y="1600200"/>
            <a:ext cx="11178988" cy="4525963"/>
          </a:xfrm>
        </p:spPr>
        <p:txBody>
          <a:bodyPr/>
          <a:lstStyle/>
          <a:p>
            <a:endParaRPr dirty="0">
              <a:latin typeface="游ゴシック" panose="020B0400000000000000" pitchFamily="50" charset="-128"/>
              <a:ea typeface="游ゴシック" panose="020B0400000000000000" pitchFamily="50" charset="-128"/>
            </a:endParaRPr>
          </a:p>
          <a:p>
            <a:r>
              <a:rPr sz="2000" b="1" dirty="0">
                <a:latin typeface="游ゴシック" panose="020B0400000000000000" pitchFamily="50" charset="-128"/>
                <a:ea typeface="游ゴシック" panose="020B0400000000000000" pitchFamily="50" charset="-128"/>
              </a:rPr>
              <a:t>Semantic Cube </a:t>
            </a:r>
            <a:r>
              <a:rPr sz="2000" b="1" dirty="0" err="1">
                <a:latin typeface="游ゴシック" panose="020B0400000000000000" pitchFamily="50" charset="-128"/>
                <a:ea typeface="游ゴシック" panose="020B0400000000000000" pitchFamily="50" charset="-128"/>
              </a:rPr>
              <a:t>Architectureの心臓部</a:t>
            </a:r>
            <a:endParaRPr sz="2000" b="1" dirty="0">
              <a:latin typeface="游ゴシック" panose="020B0400000000000000" pitchFamily="50" charset="-128"/>
              <a:ea typeface="游ゴシック" panose="020B0400000000000000" pitchFamily="50" charset="-128"/>
            </a:endParaRPr>
          </a:p>
          <a:p>
            <a:pPr lvl="1"/>
            <a:r>
              <a:rPr sz="1800" b="1" dirty="0" err="1">
                <a:latin typeface="游ゴシック" panose="020B0400000000000000" pitchFamily="50" charset="-128"/>
                <a:ea typeface="游ゴシック" panose="020B0400000000000000" pitchFamily="50" charset="-128"/>
              </a:rPr>
              <a:t>役割</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すべての意味キューブとシステムステート（global_turn等）を中央集権的に管理するメモリ基盤</a:t>
            </a:r>
            <a:r>
              <a:rPr sz="1800" dirty="0">
                <a:latin typeface="游ゴシック" panose="020B0400000000000000" pitchFamily="50" charset="-128"/>
                <a:ea typeface="游ゴシック" panose="020B0400000000000000" pitchFamily="50" charset="-128"/>
              </a:rPr>
              <a:t>。</a:t>
            </a:r>
          </a:p>
          <a:p>
            <a:pPr lvl="1"/>
            <a:r>
              <a:rPr sz="1800" b="1" dirty="0" err="1">
                <a:latin typeface="游ゴシック" panose="020B0400000000000000" pitchFamily="50" charset="-128"/>
                <a:ea typeface="游ゴシック" panose="020B0400000000000000" pitchFamily="50" charset="-128"/>
              </a:rPr>
              <a:t>階層化ストレージ</a:t>
            </a:r>
            <a:r>
              <a:rPr sz="1800" dirty="0">
                <a:latin typeface="游ゴシック" panose="020B0400000000000000" pitchFamily="50" charset="-128"/>
                <a:ea typeface="游ゴシック" panose="020B0400000000000000" pitchFamily="50" charset="-128"/>
              </a:rPr>
              <a:t>:</a:t>
            </a:r>
          </a:p>
          <a:p>
            <a:pPr lvl="2"/>
            <a:r>
              <a:rPr sz="1600" b="1" dirty="0" err="1">
                <a:latin typeface="游ゴシック" panose="020B0400000000000000" pitchFamily="50" charset="-128"/>
                <a:ea typeface="游ゴシック" panose="020B0400000000000000" pitchFamily="50" charset="-128"/>
              </a:rPr>
              <a:t>ホット層</a:t>
            </a:r>
            <a:r>
              <a:rPr sz="1600" dirty="0">
                <a:latin typeface="游ゴシック" panose="020B0400000000000000" pitchFamily="50" charset="-128"/>
                <a:ea typeface="游ゴシック" panose="020B0400000000000000" pitchFamily="50" charset="-128"/>
              </a:rPr>
              <a:t>: float32の高精度ベクトルを保持し、高速な精査に利用。</a:t>
            </a:r>
          </a:p>
          <a:p>
            <a:pPr lvl="2"/>
            <a:r>
              <a:rPr sz="1600" b="1" dirty="0" err="1">
                <a:latin typeface="游ゴシック" panose="020B0400000000000000" pitchFamily="50" charset="-128"/>
                <a:ea typeface="游ゴシック" panose="020B0400000000000000" pitchFamily="50" charset="-128"/>
              </a:rPr>
              <a:t>コールド層</a:t>
            </a:r>
            <a:r>
              <a:rPr sz="1600" dirty="0">
                <a:latin typeface="游ゴシック" panose="020B0400000000000000" pitchFamily="50" charset="-128"/>
                <a:ea typeface="游ゴシック" panose="020B0400000000000000" pitchFamily="50" charset="-128"/>
              </a:rPr>
              <a:t>: int3/4/8等に量子化されたデータを保持し、粗探索や長期保存に利用。</a:t>
            </a:r>
          </a:p>
          <a:p>
            <a:pPr lvl="1"/>
            <a:r>
              <a:rPr sz="1800" b="1" dirty="0" err="1">
                <a:latin typeface="游ゴシック" panose="020B0400000000000000" pitchFamily="50" charset="-128"/>
                <a:ea typeface="游ゴシック" panose="020B0400000000000000" pitchFamily="50" charset="-128"/>
              </a:rPr>
              <a:t>機能</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Registry管理、イベント発火、デフラグ・GCのトリガ</a:t>
            </a:r>
            <a:r>
              <a:rPr sz="1800" dirty="0">
                <a:latin typeface="游ゴシック" panose="020B0400000000000000" pitchFamily="50" charset="-128"/>
                <a:ea typeface="游ゴシック" panose="020B0400000000000000" pitchFamily="50" charset="-128"/>
              </a:rPr>
              <a:t>ー、</a:t>
            </a:r>
            <a:r>
              <a:rPr sz="1800" dirty="0" err="1">
                <a:latin typeface="游ゴシック" panose="020B0400000000000000" pitchFamily="50" charset="-128"/>
                <a:ea typeface="游ゴシック" panose="020B0400000000000000" pitchFamily="50" charset="-128"/>
              </a:rPr>
              <a:t>および監査ログの統制を担う「意味のハブ」です</a:t>
            </a:r>
            <a:r>
              <a:rPr sz="1800" dirty="0">
                <a:latin typeface="游ゴシック" panose="020B0400000000000000" pitchFamily="50" charset="-128"/>
                <a:ea typeface="游ゴシック" panose="020B0400000000000000" pitchFamily="50" charset="-128"/>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37391"/>
            <a:ext cx="8229600" cy="1143000"/>
          </a:xfrm>
        </p:spPr>
        <p:txBody>
          <a:bodyPr/>
          <a:lstStyle/>
          <a:p>
            <a:pPr>
              <a:defRPr b="1">
                <a:solidFill>
                  <a:srgbClr val="003366"/>
                </a:solidFill>
              </a:defRPr>
            </a:pPr>
            <a:r>
              <a:rPr dirty="0" err="1">
                <a:latin typeface="游ゴシック" panose="020B0400000000000000" pitchFamily="50" charset="-128"/>
                <a:ea typeface="游ゴシック" panose="020B0400000000000000" pitchFamily="50" charset="-128"/>
              </a:rPr>
              <a:t>実装モック（PoC）による証明</a:t>
            </a:r>
            <a:endParaRPr dirty="0">
              <a:latin typeface="游ゴシック" panose="020B0400000000000000" pitchFamily="50" charset="-128"/>
              <a:ea typeface="游ゴシック" panose="020B0400000000000000" pitchFamily="50" charset="-128"/>
            </a:endParaRPr>
          </a:p>
        </p:txBody>
      </p:sp>
      <p:sp>
        <p:nvSpPr>
          <p:cNvPr id="3" name="Content Placeholder 2"/>
          <p:cNvSpPr>
            <a:spLocks noGrp="1"/>
          </p:cNvSpPr>
          <p:nvPr>
            <p:ph idx="1"/>
          </p:nvPr>
        </p:nvSpPr>
        <p:spPr>
          <a:xfrm>
            <a:off x="457199" y="1600200"/>
            <a:ext cx="11214847" cy="4525963"/>
          </a:xfrm>
        </p:spPr>
        <p:txBody>
          <a:bodyPr/>
          <a:lstStyle/>
          <a:p>
            <a:endParaRPr dirty="0">
              <a:latin typeface="游ゴシック" panose="020B0400000000000000" pitchFamily="50" charset="-128"/>
              <a:ea typeface="游ゴシック" panose="020B0400000000000000" pitchFamily="50" charset="-128"/>
            </a:endParaRPr>
          </a:p>
          <a:p>
            <a:r>
              <a:rPr sz="2000" b="1" dirty="0" err="1">
                <a:latin typeface="游ゴシック" panose="020B0400000000000000" pitchFamily="50" charset="-128"/>
                <a:ea typeface="游ゴシック" panose="020B0400000000000000" pitchFamily="50" charset="-128"/>
              </a:rPr>
              <a:t>理論から実稼働するシステムへ</a:t>
            </a:r>
            <a:endParaRPr sz="2000" b="1" dirty="0">
              <a:latin typeface="游ゴシック" panose="020B0400000000000000" pitchFamily="50" charset="-128"/>
              <a:ea typeface="游ゴシック" panose="020B0400000000000000" pitchFamily="50" charset="-128"/>
            </a:endParaRPr>
          </a:p>
          <a:p>
            <a:pPr lvl="1"/>
            <a:r>
              <a:rPr sz="1800" dirty="0" err="1">
                <a:latin typeface="游ゴシック" panose="020B0400000000000000" pitchFamily="50" charset="-128"/>
                <a:ea typeface="游ゴシック" panose="020B0400000000000000" pitchFamily="50" charset="-128"/>
              </a:rPr>
              <a:t>GitHubリポジトリ</a:t>
            </a:r>
            <a:r>
              <a:rPr sz="1800" dirty="0">
                <a:latin typeface="游ゴシック" panose="020B0400000000000000" pitchFamily="50" charset="-128"/>
                <a:ea typeface="游ゴシック" panose="020B0400000000000000" pitchFamily="50" charset="-128"/>
              </a:rPr>
              <a:t>（`mock/` </a:t>
            </a:r>
            <a:r>
              <a:rPr sz="1800" dirty="0" err="1">
                <a:latin typeface="游ゴシック" panose="020B0400000000000000" pitchFamily="50" charset="-128"/>
                <a:ea typeface="游ゴシック" panose="020B0400000000000000" pitchFamily="50" charset="-128"/>
              </a:rPr>
              <a:t>ディレクトリ）にて、本アーキテクチャの完全な動作を証明するPython実装を公開しています</a:t>
            </a:r>
            <a:r>
              <a:rPr sz="1800" dirty="0">
                <a:latin typeface="游ゴシック" panose="020B0400000000000000" pitchFamily="50" charset="-128"/>
                <a:ea typeface="游ゴシック" panose="020B0400000000000000" pitchFamily="50" charset="-128"/>
              </a:rPr>
              <a:t>。</a:t>
            </a:r>
          </a:p>
          <a:p>
            <a:pPr lvl="1"/>
            <a:r>
              <a:rPr sz="1800" b="1" dirty="0" err="1">
                <a:latin typeface="游ゴシック" panose="020B0400000000000000" pitchFamily="50" charset="-128"/>
                <a:ea typeface="游ゴシック" panose="020B0400000000000000" pitchFamily="50" charset="-128"/>
              </a:rPr>
              <a:t>実装済み機能</a:t>
            </a:r>
            <a:r>
              <a:rPr sz="1800" dirty="0">
                <a:latin typeface="游ゴシック" panose="020B0400000000000000" pitchFamily="50" charset="-128"/>
                <a:ea typeface="游ゴシック" panose="020B0400000000000000" pitchFamily="50" charset="-128"/>
              </a:rPr>
              <a:t>:</a:t>
            </a:r>
          </a:p>
          <a:p>
            <a:pPr lvl="2"/>
            <a:r>
              <a:rPr sz="1600" dirty="0">
                <a:latin typeface="游ゴシック" panose="020B0400000000000000" pitchFamily="50" charset="-128"/>
                <a:ea typeface="游ゴシック" panose="020B0400000000000000" pitchFamily="50" charset="-128"/>
              </a:rPr>
              <a:t>int3 </a:t>
            </a:r>
            <a:r>
              <a:rPr sz="1600" dirty="0" err="1">
                <a:latin typeface="游ゴシック" panose="020B0400000000000000" pitchFamily="50" charset="-128"/>
                <a:ea typeface="游ゴシック" panose="020B0400000000000000" pitchFamily="50" charset="-128"/>
              </a:rPr>
              <a:t>量子化による空間構築</a:t>
            </a:r>
            <a:endParaRPr sz="1600" dirty="0">
              <a:latin typeface="游ゴシック" panose="020B0400000000000000" pitchFamily="50" charset="-128"/>
              <a:ea typeface="游ゴシック" panose="020B0400000000000000" pitchFamily="50" charset="-128"/>
            </a:endParaRPr>
          </a:p>
          <a:p>
            <a:pPr lvl="2"/>
            <a:r>
              <a:rPr sz="1600" dirty="0">
                <a:latin typeface="游ゴシック" panose="020B0400000000000000" pitchFamily="50" charset="-128"/>
                <a:ea typeface="游ゴシック" panose="020B0400000000000000" pitchFamily="50" charset="-128"/>
              </a:rPr>
              <a:t>Attraction </a:t>
            </a:r>
            <a:r>
              <a:rPr sz="1600" dirty="0" err="1">
                <a:latin typeface="游ゴシック" panose="020B0400000000000000" pitchFamily="50" charset="-128"/>
                <a:ea typeface="游ゴシック" panose="020B0400000000000000" pitchFamily="50" charset="-128"/>
              </a:rPr>
              <a:t>Map（引力マップ）による検索</a:t>
            </a:r>
            <a:endParaRPr sz="1600" dirty="0">
              <a:latin typeface="游ゴシック" panose="020B0400000000000000" pitchFamily="50" charset="-128"/>
              <a:ea typeface="游ゴシック" panose="020B0400000000000000" pitchFamily="50" charset="-128"/>
            </a:endParaRPr>
          </a:p>
          <a:p>
            <a:pPr lvl="2"/>
            <a:r>
              <a:rPr sz="1600" dirty="0" err="1">
                <a:latin typeface="游ゴシック" panose="020B0400000000000000" pitchFamily="50" charset="-128"/>
                <a:ea typeface="游ゴシック" panose="020B0400000000000000" pitchFamily="50" charset="-128"/>
              </a:rPr>
              <a:t>イベント駆動の</a:t>
            </a:r>
            <a:r>
              <a:rPr sz="1600" dirty="0">
                <a:latin typeface="游ゴシック" panose="020B0400000000000000" pitchFamily="50" charset="-128"/>
                <a:ea typeface="游ゴシック" panose="020B0400000000000000" pitchFamily="50" charset="-128"/>
              </a:rPr>
              <a:t>α代謝（O(1)計算）</a:t>
            </a:r>
          </a:p>
          <a:p>
            <a:pPr lvl="2"/>
            <a:r>
              <a:rPr sz="1600" dirty="0" err="1">
                <a:latin typeface="游ゴシック" panose="020B0400000000000000" pitchFamily="50" charset="-128"/>
                <a:ea typeface="游ゴシック" panose="020B0400000000000000" pitchFamily="50" charset="-128"/>
              </a:rPr>
              <a:t>地形ベース・デフラグと論理GC</a:t>
            </a:r>
            <a:endParaRPr sz="1600" dirty="0">
              <a:latin typeface="游ゴシック" panose="020B0400000000000000" pitchFamily="50" charset="-128"/>
              <a:ea typeface="游ゴシック" panose="020B0400000000000000" pitchFamily="50" charset="-128"/>
            </a:endParaRPr>
          </a:p>
          <a:p>
            <a:pPr lvl="2"/>
            <a:r>
              <a:rPr sz="1600" dirty="0" err="1">
                <a:latin typeface="游ゴシック" panose="020B0400000000000000" pitchFamily="50" charset="-128"/>
                <a:ea typeface="游ゴシック" panose="020B0400000000000000" pitchFamily="50" charset="-128"/>
              </a:rPr>
              <a:t>SRAGによるプロンプト注入</a:t>
            </a:r>
            <a:endParaRPr sz="1600" dirty="0">
              <a:latin typeface="游ゴシック" panose="020B0400000000000000" pitchFamily="50" charset="-128"/>
              <a:ea typeface="游ゴシック" panose="020B0400000000000000" pitchFamily="50" charset="-128"/>
            </a:endParaRPr>
          </a:p>
          <a:p>
            <a:pPr lvl="1"/>
            <a:r>
              <a:rPr sz="1800" b="1" dirty="0" err="1">
                <a:latin typeface="游ゴシック" panose="020B0400000000000000" pitchFamily="50" charset="-128"/>
                <a:ea typeface="游ゴシック" panose="020B0400000000000000" pitchFamily="50" charset="-128"/>
              </a:rPr>
              <a:t>結論</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本理論は机上の空論ではなく、直ちにプロダクション環境への応用が可能な実用性を備えています</a:t>
            </a:r>
            <a:r>
              <a:rPr sz="1800" dirty="0">
                <a:latin typeface="游ゴシック" panose="020B0400000000000000" pitchFamily="50" charset="-128"/>
                <a:ea typeface="游ゴシック" panose="020B0400000000000000" pitchFamily="50" charset="-128"/>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0766612" cy="1143000"/>
          </a:xfrm>
        </p:spPr>
        <p:txBody>
          <a:bodyPr/>
          <a:lstStyle/>
          <a:p>
            <a:pPr>
              <a:defRPr b="1">
                <a:solidFill>
                  <a:srgbClr val="003366"/>
                </a:solidFill>
              </a:defRPr>
            </a:pPr>
            <a:r>
              <a:rPr dirty="0" err="1">
                <a:latin typeface="游ゴシック" panose="020B0400000000000000" pitchFamily="50" charset="-128"/>
                <a:ea typeface="游ゴシック" panose="020B0400000000000000" pitchFamily="50" charset="-128"/>
              </a:rPr>
              <a:t>今後の展望</a:t>
            </a:r>
            <a:endParaRPr dirty="0">
              <a:latin typeface="游ゴシック" panose="020B0400000000000000" pitchFamily="50" charset="-128"/>
              <a:ea typeface="游ゴシック" panose="020B0400000000000000" pitchFamily="50" charset="-128"/>
            </a:endParaRPr>
          </a:p>
        </p:txBody>
      </p:sp>
      <p:sp>
        <p:nvSpPr>
          <p:cNvPr id="3" name="Content Placeholder 2"/>
          <p:cNvSpPr>
            <a:spLocks noGrp="1"/>
          </p:cNvSpPr>
          <p:nvPr>
            <p:ph idx="1"/>
          </p:nvPr>
        </p:nvSpPr>
        <p:spPr>
          <a:xfrm>
            <a:off x="457199" y="1600200"/>
            <a:ext cx="11367247" cy="4525963"/>
          </a:xfrm>
        </p:spPr>
        <p:txBody>
          <a:bodyPr/>
          <a:lstStyle/>
          <a:p>
            <a:endParaRPr dirty="0">
              <a:latin typeface="游ゴシック" panose="020B0400000000000000" pitchFamily="50" charset="-128"/>
              <a:ea typeface="游ゴシック" panose="020B0400000000000000" pitchFamily="50" charset="-128"/>
            </a:endParaRPr>
          </a:p>
          <a:p>
            <a:r>
              <a:rPr sz="2000" b="1" dirty="0" err="1">
                <a:latin typeface="游ゴシック" panose="020B0400000000000000" pitchFamily="50" charset="-128"/>
                <a:ea typeface="游ゴシック" panose="020B0400000000000000" pitchFamily="50" charset="-128"/>
              </a:rPr>
              <a:t>SCAが切り拓く、AIの次のフロンティア</a:t>
            </a:r>
            <a:endParaRPr sz="2000" b="1" dirty="0">
              <a:latin typeface="游ゴシック" panose="020B0400000000000000" pitchFamily="50" charset="-128"/>
              <a:ea typeface="游ゴシック" panose="020B0400000000000000" pitchFamily="50" charset="-128"/>
            </a:endParaRPr>
          </a:p>
          <a:p>
            <a:pPr lvl="1"/>
            <a:r>
              <a:rPr sz="1800" b="1" dirty="0">
                <a:latin typeface="游ゴシック" panose="020B0400000000000000" pitchFamily="50" charset="-128"/>
                <a:ea typeface="游ゴシック" panose="020B0400000000000000" pitchFamily="50" charset="-128"/>
              </a:rPr>
              <a:t>第3世代LLMへのネイティブ統合</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テキストではなく、意味ベクトルを直接LLMの推論レイヤーに注入するアーキテクチャの確立</a:t>
            </a:r>
            <a:r>
              <a:rPr sz="1800" dirty="0">
                <a:latin typeface="游ゴシック" panose="020B0400000000000000" pitchFamily="50" charset="-128"/>
                <a:ea typeface="游ゴシック" panose="020B0400000000000000" pitchFamily="50" charset="-128"/>
              </a:rPr>
              <a:t>。</a:t>
            </a:r>
          </a:p>
          <a:p>
            <a:pPr lvl="1"/>
            <a:r>
              <a:rPr sz="1800" b="1" dirty="0" err="1">
                <a:latin typeface="游ゴシック" panose="020B0400000000000000" pitchFamily="50" charset="-128"/>
                <a:ea typeface="游ゴシック" panose="020B0400000000000000" pitchFamily="50" charset="-128"/>
              </a:rPr>
              <a:t>フィジカルAIへの応用</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エッジデバイスとクラウドをSSTP（Semantic</a:t>
            </a:r>
            <a:r>
              <a:rPr sz="1800" dirty="0">
                <a:latin typeface="游ゴシック" panose="020B0400000000000000" pitchFamily="50" charset="-128"/>
                <a:ea typeface="游ゴシック" panose="020B0400000000000000" pitchFamily="50" charset="-128"/>
              </a:rPr>
              <a:t> Signature Transfer </a:t>
            </a:r>
            <a:r>
              <a:rPr sz="1800" dirty="0" err="1">
                <a:latin typeface="游ゴシック" panose="020B0400000000000000" pitchFamily="50" charset="-128"/>
                <a:ea typeface="游ゴシック" panose="020B0400000000000000" pitchFamily="50" charset="-128"/>
              </a:rPr>
              <a:t>Protocol）で結ぶ低遅延な同期</a:t>
            </a:r>
            <a:r>
              <a:rPr sz="1800" dirty="0">
                <a:latin typeface="游ゴシック" panose="020B0400000000000000" pitchFamily="50" charset="-128"/>
                <a:ea typeface="游ゴシック" panose="020B0400000000000000" pitchFamily="50" charset="-128"/>
              </a:rPr>
              <a:t>。</a:t>
            </a:r>
          </a:p>
          <a:p>
            <a:pPr lvl="1"/>
            <a:r>
              <a:rPr sz="1800" b="1" dirty="0" err="1">
                <a:latin typeface="游ゴシック" panose="020B0400000000000000" pitchFamily="50" charset="-128"/>
                <a:ea typeface="游ゴシック" panose="020B0400000000000000" pitchFamily="50" charset="-128"/>
              </a:rPr>
              <a:t>記憶の自律的な階層化と忘却</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より高度な生体模倣アルゴリズムの導入</a:t>
            </a:r>
            <a:r>
              <a:rPr sz="1800" dirty="0">
                <a:latin typeface="游ゴシック" panose="020B0400000000000000" pitchFamily="50" charset="-128"/>
                <a:ea typeface="游ゴシック" panose="020B0400000000000000" pitchFamily="50" charset="-128"/>
              </a:rPr>
              <a:t>。</a:t>
            </a:r>
          </a:p>
          <a:p>
            <a:pPr lvl="1"/>
            <a:r>
              <a:rPr sz="1800" b="1" dirty="0" err="1">
                <a:latin typeface="游ゴシック" panose="020B0400000000000000" pitchFamily="50" charset="-128"/>
                <a:ea typeface="游ゴシック" panose="020B0400000000000000" pitchFamily="50" charset="-128"/>
              </a:rPr>
              <a:t>命題生成と自己補正</a:t>
            </a:r>
            <a:r>
              <a:rPr sz="1800" dirty="0">
                <a:latin typeface="游ゴシック" panose="020B0400000000000000" pitchFamily="50" charset="-128"/>
                <a:ea typeface="游ゴシック" panose="020B0400000000000000" pitchFamily="50" charset="-128"/>
              </a:rPr>
              <a:t>: </a:t>
            </a:r>
            <a:r>
              <a:rPr sz="1800" dirty="0" err="1">
                <a:latin typeface="游ゴシック" panose="020B0400000000000000" pitchFamily="50" charset="-128"/>
                <a:ea typeface="游ゴシック" panose="020B0400000000000000" pitchFamily="50" charset="-128"/>
              </a:rPr>
              <a:t>AIが自ら仮説を立て、記憶を反芻しながら真理を追求するシステムの構築</a:t>
            </a:r>
            <a:r>
              <a:rPr sz="1800" dirty="0">
                <a:latin typeface="游ゴシック" panose="020B0400000000000000" pitchFamily="50" charset="-128"/>
                <a:ea typeface="游ゴシック" panose="020B0400000000000000" pitchFamily="50" charset="-128"/>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93782"/>
            <a:ext cx="8229600" cy="1143000"/>
          </a:xfrm>
        </p:spPr>
        <p:txBody>
          <a:bodyPr/>
          <a:lstStyle/>
          <a:p>
            <a:pPr>
              <a:defRPr b="1">
                <a:solidFill>
                  <a:srgbClr val="003366"/>
                </a:solidFill>
              </a:defRPr>
            </a:pPr>
            <a:r>
              <a:rPr dirty="0" err="1">
                <a:latin typeface="游ゴシック" panose="020B0400000000000000" pitchFamily="50" charset="-128"/>
                <a:ea typeface="游ゴシック" panose="020B0400000000000000" pitchFamily="50" charset="-128"/>
              </a:rPr>
              <a:t>結語</a:t>
            </a:r>
            <a:endParaRPr dirty="0">
              <a:latin typeface="游ゴシック" panose="020B0400000000000000" pitchFamily="50" charset="-128"/>
              <a:ea typeface="游ゴシック" panose="020B0400000000000000" pitchFamily="50" charset="-128"/>
            </a:endParaRPr>
          </a:p>
        </p:txBody>
      </p:sp>
      <p:sp>
        <p:nvSpPr>
          <p:cNvPr id="3" name="Content Placeholder 2"/>
          <p:cNvSpPr>
            <a:spLocks noGrp="1"/>
          </p:cNvSpPr>
          <p:nvPr>
            <p:ph idx="1"/>
          </p:nvPr>
        </p:nvSpPr>
        <p:spPr>
          <a:xfrm>
            <a:off x="457200" y="1600200"/>
            <a:ext cx="11170024" cy="4525963"/>
          </a:xfrm>
        </p:spPr>
        <p:txBody>
          <a:bodyPr/>
          <a:lstStyle/>
          <a:p>
            <a:endParaRPr dirty="0">
              <a:latin typeface="游ゴシック" panose="020B0400000000000000" pitchFamily="50" charset="-128"/>
              <a:ea typeface="游ゴシック" panose="020B0400000000000000" pitchFamily="50" charset="-128"/>
            </a:endParaRPr>
          </a:p>
          <a:p>
            <a:r>
              <a:rPr sz="2000" b="1" dirty="0">
                <a:latin typeface="游ゴシック" panose="020B0400000000000000" pitchFamily="50" charset="-128"/>
                <a:ea typeface="游ゴシック" panose="020B0400000000000000" pitchFamily="50" charset="-128"/>
              </a:rPr>
              <a:t>Semantic Cube Architecture は、「</a:t>
            </a:r>
            <a:r>
              <a:rPr sz="2000" b="1" dirty="0" err="1">
                <a:latin typeface="游ゴシック" panose="020B0400000000000000" pitchFamily="50" charset="-128"/>
                <a:ea typeface="游ゴシック" panose="020B0400000000000000" pitchFamily="50" charset="-128"/>
              </a:rPr>
              <a:t>LLMの外側で思考するメモリ」を実現するための新しいデータ＆メモリアーキテクチャです</a:t>
            </a:r>
            <a:r>
              <a:rPr sz="2000" b="1" dirty="0">
                <a:latin typeface="游ゴシック" panose="020B0400000000000000" pitchFamily="50" charset="-128"/>
                <a:ea typeface="游ゴシック" panose="020B0400000000000000" pitchFamily="50" charset="-128"/>
              </a:rPr>
              <a:t>。</a:t>
            </a:r>
          </a:p>
          <a:p>
            <a:r>
              <a:rPr sz="2000" dirty="0">
                <a:latin typeface="游ゴシック" panose="020B0400000000000000" pitchFamily="50" charset="-128"/>
                <a:ea typeface="游ゴシック" panose="020B0400000000000000" pitchFamily="50" charset="-128"/>
              </a:rPr>
              <a:t>一次元のテキスト処理の限界を超え、AIに「時間」と「空間」を与え、自律的な代謝を獲得させるこのアプローチが、次世代AIの標準的なインフラストラクチャとなることを確信しています。</a:t>
            </a:r>
            <a:endParaRPr lang="en-US" sz="2000" dirty="0">
              <a:latin typeface="游ゴシック" panose="020B0400000000000000" pitchFamily="50" charset="-128"/>
              <a:ea typeface="游ゴシック" panose="020B0400000000000000" pitchFamily="50" charset="-128"/>
            </a:endParaRPr>
          </a:p>
          <a:p>
            <a:pPr marL="0" indent="0">
              <a:buNone/>
            </a:pPr>
            <a:endParaRPr sz="2000" dirty="0">
              <a:latin typeface="游ゴシック" panose="020B0400000000000000" pitchFamily="50" charset="-128"/>
              <a:ea typeface="游ゴシック" panose="020B0400000000000000" pitchFamily="50" charset="-128"/>
            </a:endParaRPr>
          </a:p>
          <a:p>
            <a:r>
              <a:rPr sz="2000" b="1" dirty="0">
                <a:latin typeface="游ゴシック" panose="020B0400000000000000" pitchFamily="50" charset="-128"/>
                <a:ea typeface="游ゴシック" panose="020B0400000000000000" pitchFamily="50" charset="-128"/>
              </a:rPr>
              <a:t>Thank You.</a:t>
            </a:r>
          </a:p>
          <a:p>
            <a:r>
              <a:rPr sz="2000" dirty="0">
                <a:latin typeface="游ゴシック" panose="020B0400000000000000" pitchFamily="50" charset="-128"/>
                <a:ea typeface="游ゴシック" panose="020B0400000000000000" pitchFamily="50" charset="-128"/>
              </a:rPr>
              <a:t>https://github.com/Q-pote/semantic_cube_architecture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TotalTime>
  <Words>1066</Words>
  <Application>Microsoft Office PowerPoint</Application>
  <PresentationFormat>ワイド画面</PresentationFormat>
  <Paragraphs>148</Paragraphs>
  <Slides>19</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19</vt:i4>
      </vt:variant>
    </vt:vector>
  </HeadingPairs>
  <TitlesOfParts>
    <vt:vector size="23" baseType="lpstr">
      <vt:lpstr>游ゴシック</vt:lpstr>
      <vt:lpstr>Arial</vt:lpstr>
      <vt:lpstr>Calibri</vt:lpstr>
      <vt:lpstr>Office Theme</vt:lpstr>
      <vt:lpstr>Semantic Cube Architecture</vt:lpstr>
      <vt:lpstr>宣言：本アーキテクチャの立場</vt:lpstr>
      <vt:lpstr>なぜ必要なのか（問題提起）</vt:lpstr>
      <vt:lpstr>解決策（全体像）</vt:lpstr>
      <vt:lpstr>全体アーキテクチャ概要</vt:lpstr>
      <vt:lpstr>Semantic Cube（意味キューブ）とは</vt:lpstr>
      <vt:lpstr>軽量化のメカニズム</vt:lpstr>
      <vt:lpstr>SRAG (Semantic Retrieval-Augmented Generation)</vt:lpstr>
      <vt:lpstr>引力マップ（Attraction Map）</vt:lpstr>
      <vt:lpstr>葛藤検知（Conflict Detection）</vt:lpstr>
      <vt:lpstr>α代謝（Metabolism）</vt:lpstr>
      <vt:lpstr>デフラグ（Defrag）記憶の整理</vt:lpstr>
      <vt:lpstr>GC（ガベージコレクション）記憶の整理</vt:lpstr>
      <vt:lpstr>話題の原子性（Atomic Topic Shift）</vt:lpstr>
      <vt:lpstr>デュアルエンジン構成</vt:lpstr>
      <vt:lpstr>KVキャッシュハブ</vt:lpstr>
      <vt:lpstr>実装モック（PoC）による証明</vt:lpstr>
      <vt:lpstr>今後の展望</vt:lpstr>
      <vt:lpstr>結語</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name no</cp:lastModifiedBy>
  <cp:revision>3</cp:revision>
  <dcterms:created xsi:type="dcterms:W3CDTF">2013-01-27T09:14:16Z</dcterms:created>
  <dcterms:modified xsi:type="dcterms:W3CDTF">2026-05-24T18:06:57Z</dcterms:modified>
  <cp:category/>
</cp:coreProperties>
</file>